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9" r:id="rId2"/>
    <p:sldId id="257" r:id="rId3"/>
    <p:sldId id="290" r:id="rId4"/>
    <p:sldId id="295" r:id="rId5"/>
    <p:sldId id="258" r:id="rId6"/>
    <p:sldId id="259" r:id="rId7"/>
    <p:sldId id="298" r:id="rId8"/>
    <p:sldId id="260" r:id="rId9"/>
    <p:sldId id="291" r:id="rId10"/>
    <p:sldId id="292" r:id="rId11"/>
    <p:sldId id="297" r:id="rId12"/>
    <p:sldId id="264" r:id="rId13"/>
    <p:sldId id="261" r:id="rId14"/>
    <p:sldId id="267" r:id="rId15"/>
    <p:sldId id="265" r:id="rId16"/>
    <p:sldId id="296" r:id="rId17"/>
    <p:sldId id="293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664FF3-FD6E-463F-8332-EDB07A23C598}" v="4" dt="2026-08-21T15:39:39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Manukondu" userId="038449def7667ad9" providerId="LiveId" clId="{F0563954-D6B0-4E99-8101-AABE55B70F38}"/>
    <pc:docChg chg="custSel addSld delSld modSld sldOrd">
      <pc:chgData name="Sandeep Manukondu" userId="038449def7667ad9" providerId="LiveId" clId="{F0563954-D6B0-4E99-8101-AABE55B70F38}" dt="2026-08-27T04:25:16.091" v="96" actId="47"/>
      <pc:docMkLst>
        <pc:docMk/>
      </pc:docMkLst>
      <pc:sldChg chg="addSp delSp modSp mod">
        <pc:chgData name="Sandeep Manukondu" userId="038449def7667ad9" providerId="LiveId" clId="{F0563954-D6B0-4E99-8101-AABE55B70F38}" dt="2026-08-27T04:23:20.967" v="85" actId="1076"/>
        <pc:sldMkLst>
          <pc:docMk/>
          <pc:sldMk cId="0" sldId="260"/>
        </pc:sldMkLst>
        <pc:picChg chg="del">
          <ac:chgData name="Sandeep Manukondu" userId="038449def7667ad9" providerId="LiveId" clId="{F0563954-D6B0-4E99-8101-AABE55B70F38}" dt="2026-08-27T04:23:08.677" v="82" actId="478"/>
          <ac:picMkLst>
            <pc:docMk/>
            <pc:sldMk cId="0" sldId="260"/>
            <ac:picMk id="2" creationId="{4276EA7B-B11B-5F91-7C4A-CC8DBD3B52DF}"/>
          </ac:picMkLst>
        </pc:picChg>
        <pc:picChg chg="add mod">
          <ac:chgData name="Sandeep Manukondu" userId="038449def7667ad9" providerId="LiveId" clId="{F0563954-D6B0-4E99-8101-AABE55B70F38}" dt="2026-08-27T04:23:20.967" v="85" actId="1076"/>
          <ac:picMkLst>
            <pc:docMk/>
            <pc:sldMk cId="0" sldId="260"/>
            <ac:picMk id="7" creationId="{DD097F4C-2DA3-A0CF-B8E9-7F0397F98C96}"/>
          </ac:picMkLst>
        </pc:picChg>
      </pc:sldChg>
      <pc:sldChg chg="addSp delSp modSp mod">
        <pc:chgData name="Sandeep Manukondu" userId="038449def7667ad9" providerId="LiveId" clId="{F0563954-D6B0-4E99-8101-AABE55B70F38}" dt="2026-08-27T04:24:28.657" v="89" actId="1076"/>
        <pc:sldMkLst>
          <pc:docMk/>
          <pc:sldMk cId="75818756" sldId="291"/>
        </pc:sldMkLst>
        <pc:picChg chg="del">
          <ac:chgData name="Sandeep Manukondu" userId="038449def7667ad9" providerId="LiveId" clId="{F0563954-D6B0-4E99-8101-AABE55B70F38}" dt="2026-08-27T04:24:10.466" v="86" actId="478"/>
          <ac:picMkLst>
            <pc:docMk/>
            <pc:sldMk cId="75818756" sldId="291"/>
            <ac:picMk id="3" creationId="{3A42A9E6-CE49-7E52-54E8-F59DF26FCEC9}"/>
          </ac:picMkLst>
        </pc:picChg>
        <pc:picChg chg="add mod">
          <ac:chgData name="Sandeep Manukondu" userId="038449def7667ad9" providerId="LiveId" clId="{F0563954-D6B0-4E99-8101-AABE55B70F38}" dt="2026-08-27T04:24:28.657" v="89" actId="1076"/>
          <ac:picMkLst>
            <pc:docMk/>
            <pc:sldMk cId="75818756" sldId="291"/>
            <ac:picMk id="7" creationId="{DAF78436-546B-AC64-E489-1A93BFEB6969}"/>
          </ac:picMkLst>
        </pc:picChg>
      </pc:sldChg>
      <pc:sldChg chg="addSp delSp modSp mod">
        <pc:chgData name="Sandeep Manukondu" userId="038449def7667ad9" providerId="LiveId" clId="{F0563954-D6B0-4E99-8101-AABE55B70F38}" dt="2026-08-27T04:25:05.351" v="95" actId="5793"/>
        <pc:sldMkLst>
          <pc:docMk/>
          <pc:sldMk cId="1782216241" sldId="292"/>
        </pc:sldMkLst>
        <pc:spChg chg="mod">
          <ac:chgData name="Sandeep Manukondu" userId="038449def7667ad9" providerId="LiveId" clId="{F0563954-D6B0-4E99-8101-AABE55B70F38}" dt="2026-08-27T04:25:05.351" v="95" actId="5793"/>
          <ac:spMkLst>
            <pc:docMk/>
            <pc:sldMk cId="1782216241" sldId="292"/>
            <ac:spMk id="5" creationId="{DA9519EB-7E14-9F58-4AE5-7851FCBBC64D}"/>
          </ac:spMkLst>
        </pc:spChg>
        <pc:picChg chg="del">
          <ac:chgData name="Sandeep Manukondu" userId="038449def7667ad9" providerId="LiveId" clId="{F0563954-D6B0-4E99-8101-AABE55B70F38}" dt="2026-08-27T04:24:33.684" v="90" actId="478"/>
          <ac:picMkLst>
            <pc:docMk/>
            <pc:sldMk cId="1782216241" sldId="292"/>
            <ac:picMk id="2" creationId="{03E6E4D4-0B32-18A8-ADCE-E41A3C867F89}"/>
          </ac:picMkLst>
        </pc:picChg>
        <pc:picChg chg="add mod">
          <ac:chgData name="Sandeep Manukondu" userId="038449def7667ad9" providerId="LiveId" clId="{F0563954-D6B0-4E99-8101-AABE55B70F38}" dt="2026-08-27T04:24:58.969" v="93" actId="1076"/>
          <ac:picMkLst>
            <pc:docMk/>
            <pc:sldMk cId="1782216241" sldId="292"/>
            <ac:picMk id="7" creationId="{BEA5C8B4-9C7A-FC1D-D7A1-8B730FFC7307}"/>
          </ac:picMkLst>
        </pc:picChg>
      </pc:sldChg>
      <pc:sldChg chg="modSp mod">
        <pc:chgData name="Sandeep Manukondu" userId="038449def7667ad9" providerId="LiveId" clId="{F0563954-D6B0-4E99-8101-AABE55B70F38}" dt="2026-08-21T16:05:06.088" v="15" actId="123"/>
        <pc:sldMkLst>
          <pc:docMk/>
          <pc:sldMk cId="3175497464" sldId="296"/>
        </pc:sldMkLst>
        <pc:spChg chg="mod">
          <ac:chgData name="Sandeep Manukondu" userId="038449def7667ad9" providerId="LiveId" clId="{F0563954-D6B0-4E99-8101-AABE55B70F38}" dt="2026-08-21T16:05:06.088" v="15" actId="123"/>
          <ac:spMkLst>
            <pc:docMk/>
            <pc:sldMk cId="3175497464" sldId="296"/>
            <ac:spMk id="3" creationId="{2698A4DD-EF4B-C581-99C4-8785C34769AA}"/>
          </ac:spMkLst>
        </pc:spChg>
      </pc:sldChg>
      <pc:sldChg chg="addSp delSp modSp add mod ord">
        <pc:chgData name="Sandeep Manukondu" userId="038449def7667ad9" providerId="LiveId" clId="{F0563954-D6B0-4E99-8101-AABE55B70F38}" dt="2026-08-21T16:14:48.965" v="53"/>
        <pc:sldMkLst>
          <pc:docMk/>
          <pc:sldMk cId="1987095573" sldId="297"/>
        </pc:sldMkLst>
        <pc:spChg chg="mod">
          <ac:chgData name="Sandeep Manukondu" userId="038449def7667ad9" providerId="LiveId" clId="{F0563954-D6B0-4E99-8101-AABE55B70F38}" dt="2026-08-21T16:07:47.078" v="31" actId="20577"/>
          <ac:spMkLst>
            <pc:docMk/>
            <pc:sldMk cId="1987095573" sldId="297"/>
            <ac:spMk id="2" creationId="{803A1168-EA9E-A8AE-81C5-FA34A1260E8F}"/>
          </ac:spMkLst>
        </pc:spChg>
        <pc:picChg chg="add mod">
          <ac:chgData name="Sandeep Manukondu" userId="038449def7667ad9" providerId="LiveId" clId="{F0563954-D6B0-4E99-8101-AABE55B70F38}" dt="2026-08-21T16:13:29.629" v="51" actId="1076"/>
          <ac:picMkLst>
            <pc:docMk/>
            <pc:sldMk cId="1987095573" sldId="297"/>
            <ac:picMk id="4" creationId="{326F5A63-3E78-3DC9-FF88-9589787A1239}"/>
          </ac:picMkLst>
        </pc:picChg>
        <pc:picChg chg="add mod">
          <ac:chgData name="Sandeep Manukondu" userId="038449def7667ad9" providerId="LiveId" clId="{F0563954-D6B0-4E99-8101-AABE55B70F38}" dt="2026-08-21T16:13:10.775" v="47" actId="1076"/>
          <ac:picMkLst>
            <pc:docMk/>
            <pc:sldMk cId="1987095573" sldId="297"/>
            <ac:picMk id="9" creationId="{A26848C4-A9D7-5DD3-517E-D2630C9A61D2}"/>
          </ac:picMkLst>
        </pc:picChg>
      </pc:sldChg>
      <pc:sldChg chg="addSp delSp modSp add mod">
        <pc:chgData name="Sandeep Manukondu" userId="038449def7667ad9" providerId="LiveId" clId="{F0563954-D6B0-4E99-8101-AABE55B70F38}" dt="2026-08-24T16:05:02.990" v="62" actId="14100"/>
        <pc:sldMkLst>
          <pc:docMk/>
          <pc:sldMk cId="856205017" sldId="298"/>
        </pc:sldMkLst>
        <pc:picChg chg="add mod">
          <ac:chgData name="Sandeep Manukondu" userId="038449def7667ad9" providerId="LiveId" clId="{F0563954-D6B0-4E99-8101-AABE55B70F38}" dt="2026-08-24T16:05:02.990" v="62" actId="14100"/>
          <ac:picMkLst>
            <pc:docMk/>
            <pc:sldMk cId="856205017" sldId="298"/>
            <ac:picMk id="7" creationId="{4EE32012-F89F-BB12-00DC-E7310D4C00D5}"/>
          </ac:picMkLst>
        </pc:picChg>
      </pc:sldChg>
      <pc:sldChg chg="addSp delSp modSp add del mod">
        <pc:chgData name="Sandeep Manukondu" userId="038449def7667ad9" providerId="LiveId" clId="{F0563954-D6B0-4E99-8101-AABE55B70F38}" dt="2026-08-27T04:25:16.091" v="96" actId="47"/>
        <pc:sldMkLst>
          <pc:docMk/>
          <pc:sldMk cId="3104500062" sldId="299"/>
        </pc:sldMkLst>
        <pc:picChg chg="add del mod">
          <ac:chgData name="Sandeep Manukondu" userId="038449def7667ad9" providerId="LiveId" clId="{F0563954-D6B0-4E99-8101-AABE55B70F38}" dt="2026-08-27T04:24:18.576" v="87" actId="21"/>
          <ac:picMkLst>
            <pc:docMk/>
            <pc:sldMk cId="3104500062" sldId="299"/>
            <ac:picMk id="3" creationId="{7F96498B-9DD6-4D8A-495B-649D32FCE61A}"/>
          </ac:picMkLst>
        </pc:picChg>
        <pc:picChg chg="del">
          <ac:chgData name="Sandeep Manukondu" userId="038449def7667ad9" providerId="LiveId" clId="{F0563954-D6B0-4E99-8101-AABE55B70F38}" dt="2026-08-27T04:19:03.798" v="64" actId="478"/>
          <ac:picMkLst>
            <pc:docMk/>
            <pc:sldMk cId="3104500062" sldId="299"/>
            <ac:picMk id="4" creationId="{11F6132F-E4D5-EDA9-E5FE-7F3B20F3C673}"/>
          </ac:picMkLst>
        </pc:picChg>
        <pc:picChg chg="add del mod">
          <ac:chgData name="Sandeep Manukondu" userId="038449def7667ad9" providerId="LiveId" clId="{F0563954-D6B0-4E99-8101-AABE55B70F38}" dt="2026-08-27T04:23:04.951" v="81" actId="21"/>
          <ac:picMkLst>
            <pc:docMk/>
            <pc:sldMk cId="3104500062" sldId="299"/>
            <ac:picMk id="6" creationId="{E27D8B0D-6DBC-03E9-51EA-AC4AEFF3B6A4}"/>
          </ac:picMkLst>
        </pc:picChg>
        <pc:picChg chg="add del mod">
          <ac:chgData name="Sandeep Manukondu" userId="038449def7667ad9" providerId="LiveId" clId="{F0563954-D6B0-4E99-8101-AABE55B70F38}" dt="2026-08-27T04:24:47.517" v="91" actId="21"/>
          <ac:picMkLst>
            <pc:docMk/>
            <pc:sldMk cId="3104500062" sldId="299"/>
            <ac:picMk id="8" creationId="{B752C349-3EA3-492D-1290-026B7D56FE74}"/>
          </ac:picMkLst>
        </pc:picChg>
        <pc:picChg chg="del">
          <ac:chgData name="Sandeep Manukondu" userId="038449def7667ad9" providerId="LiveId" clId="{F0563954-D6B0-4E99-8101-AABE55B70F38}" dt="2026-08-27T04:19:05.620" v="65" actId="478"/>
          <ac:picMkLst>
            <pc:docMk/>
            <pc:sldMk cId="3104500062" sldId="299"/>
            <ac:picMk id="9" creationId="{087E4A0F-C9DD-B717-077A-053BE0477A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B82F-6CF4-B18B-CC27-03DD0DA17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726B9-220B-89E3-2EDF-B2EB4EA42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9D9D3-A9C0-6784-E868-6D5486DAF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FB9E6-5588-72F3-0422-5A27FBD76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79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D228-90BC-5202-80B0-FCAC1F3D9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931DD-10A1-D78D-C27C-12C29C501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C77C7-CBE2-1445-5CE3-89DD9EB21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C38F6-592F-2CD0-D02B-CF647BDE2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72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8A0D-DC06-802E-C8D8-3F3E7A0CB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CFFE1-3894-16DD-EC64-0964135BCD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D3B84-47BE-D894-17E4-65B29FE55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97004-6872-B946-1CCF-862B24F95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43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FCDE-E691-8516-3AC4-44820DA89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BF8D2-AB78-F338-FE71-2BEC38744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30E58-1395-653C-76A5-8E9B0CC61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FC8A-C432-BC8D-B9CF-69B2C0A9A9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0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Big Data Ingestion Pipeline from Distributed Sources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CSA1522-CLOUD COMPUTING &amp; BIG DATA ANALYTICS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2EF99-82AA-F1F2-9A6E-5718A160EF18}"/>
              </a:ext>
            </a:extLst>
          </p:cNvPr>
          <p:cNvSpPr txBox="1"/>
          <p:nvPr/>
        </p:nvSpPr>
        <p:spPr>
          <a:xfrm>
            <a:off x="5324622" y="3672812"/>
            <a:ext cx="3552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Name of the student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Gali Venkata Niranjan Reddy (192525199)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Mamidi Jaya Krishna (192524500)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Manukondu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Sandeep (192525095)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/>
              <a:t>Guided by :</a:t>
            </a:r>
          </a:p>
          <a:p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Rajaram P 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565066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Introduction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502919" y="1362808"/>
            <a:ext cx="505381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applications generate massive volumes of data from multiple distributed sources in real time.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may come from IoT devices, sensors, web applications, social media, servers, and enterprise systems.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data processing methods may not handle high-velocity and continuously generated data efficiently.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big data ingestion pipeline collects, processes, stores, and visualizes data with minimum delay.</a:t>
            </a:r>
          </a:p>
          <a:p>
            <a:endParaRPr lang="en-IN" dirty="0"/>
          </a:p>
        </p:txBody>
      </p:sp>
      <p:pic>
        <p:nvPicPr>
          <p:cNvPr id="3" name="Picture 2" descr="Real Time Streaming Application with Apache Spark">
            <a:extLst>
              <a:ext uri="{FF2B5EF4-FFF2-40B4-BE49-F238E27FC236}">
                <a16:creationId xmlns:a16="http://schemas.microsoft.com/office/drawing/2014/main" id="{87F35FF6-383D-0686-D60C-9A74BC37AA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473" y="1747837"/>
            <a:ext cx="2927608" cy="2022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Abstract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606574" y="1392700"/>
            <a:ext cx="7877907" cy="2535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Ingests high-velocity data from multiple sources.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data ingestion.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Streaming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processing.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HDFS/S3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large-scale data storage.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Grafana/Kibana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visualization.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reliable and scalable data processing.</a:t>
            </a: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2E9BAA-B8B9-5C41-44D0-E2C4A7235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B886956-33EA-0EEA-8DE4-995064E1F155}"/>
              </a:ext>
            </a:extLst>
          </p:cNvPr>
          <p:cNvSpPr/>
          <p:nvPr/>
        </p:nvSpPr>
        <p:spPr>
          <a:xfrm>
            <a:off x="-124660" y="521128"/>
            <a:ext cx="8229600" cy="6449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000" b="1" dirty="0"/>
              <a:t>Literature Review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EB562334-B471-280F-DD6B-E08C0CBA3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260" y="56295"/>
            <a:ext cx="4062270" cy="644996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C7337C90-0032-865B-8BCC-7C3606374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2599" y="77584"/>
            <a:ext cx="4062270" cy="568036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2DDE24E-CF9A-4C71-57D6-E6EFCC1DF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338401"/>
              </p:ext>
            </p:extLst>
          </p:nvPr>
        </p:nvGraphicFramePr>
        <p:xfrm>
          <a:off x="629785" y="1222753"/>
          <a:ext cx="7372663" cy="339269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87575">
                  <a:extLst>
                    <a:ext uri="{9D8B030D-6E8A-4147-A177-3AD203B41FA5}">
                      <a16:colId xmlns:a16="http://schemas.microsoft.com/office/drawing/2014/main" val="2213997980"/>
                    </a:ext>
                  </a:extLst>
                </a:gridCol>
                <a:gridCol w="1471272">
                  <a:extLst>
                    <a:ext uri="{9D8B030D-6E8A-4147-A177-3AD203B41FA5}">
                      <a16:colId xmlns:a16="http://schemas.microsoft.com/office/drawing/2014/main" val="460266463"/>
                    </a:ext>
                  </a:extLst>
                </a:gridCol>
                <a:gridCol w="1471272">
                  <a:extLst>
                    <a:ext uri="{9D8B030D-6E8A-4147-A177-3AD203B41FA5}">
                      <a16:colId xmlns:a16="http://schemas.microsoft.com/office/drawing/2014/main" val="2550302728"/>
                    </a:ext>
                  </a:extLst>
                </a:gridCol>
                <a:gridCol w="1471272">
                  <a:extLst>
                    <a:ext uri="{9D8B030D-6E8A-4147-A177-3AD203B41FA5}">
                      <a16:colId xmlns:a16="http://schemas.microsoft.com/office/drawing/2014/main" val="1287943774"/>
                    </a:ext>
                  </a:extLst>
                </a:gridCol>
                <a:gridCol w="1471272">
                  <a:extLst>
                    <a:ext uri="{9D8B030D-6E8A-4147-A177-3AD203B41FA5}">
                      <a16:colId xmlns:a16="http://schemas.microsoft.com/office/drawing/2014/main" val="124646485"/>
                    </a:ext>
                  </a:extLst>
                </a:gridCol>
              </a:tblGrid>
              <a:tr h="1749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dirty="0">
                          <a:solidFill>
                            <a:srgbClr val="000000"/>
                          </a:solidFill>
                          <a:effectLst/>
                        </a:rPr>
                        <a:t>Author(s) &amp; year</a:t>
                      </a:r>
                      <a:endParaRPr lang="en-IN" sz="9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dirty="0">
                          <a:solidFill>
                            <a:srgbClr val="000000"/>
                          </a:solidFill>
                          <a:effectLst/>
                        </a:rPr>
                        <a:t>Study focus</a:t>
                      </a:r>
                      <a:endParaRPr lang="en-IN" sz="9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dirty="0">
                          <a:solidFill>
                            <a:srgbClr val="000000"/>
                          </a:solidFill>
                          <a:effectLst/>
                        </a:rPr>
                        <a:t>Methodology</a:t>
                      </a:r>
                      <a:endParaRPr lang="en-IN" sz="9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dirty="0">
                          <a:solidFill>
                            <a:srgbClr val="000000"/>
                          </a:solidFill>
                          <a:effectLst/>
                        </a:rPr>
                        <a:t>Key findings</a:t>
                      </a:r>
                      <a:endParaRPr lang="en-IN" sz="9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900" b="1" dirty="0">
                          <a:solidFill>
                            <a:srgbClr val="000000"/>
                          </a:solidFill>
                          <a:effectLst/>
                        </a:rPr>
                        <a:t>Gaps identified</a:t>
                      </a:r>
                      <a:endParaRPr lang="en-IN" sz="900" b="1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 anchor="ctr"/>
                </a:tc>
                <a:extLst>
                  <a:ext uri="{0D108BD9-81ED-4DB2-BD59-A6C34878D82A}">
                    <a16:rowId xmlns:a16="http://schemas.microsoft.com/office/drawing/2014/main" val="1771335098"/>
                  </a:ext>
                </a:extLst>
              </a:tr>
              <a:tr h="51362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</a:rPr>
                        <a:t>Springer KAIS study (2022)</a:t>
                      </a:r>
                      <a:endParaRPr lang="en-IN" sz="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Distributed real-time ETL for unstructured data</a:t>
                      </a:r>
                      <a:endParaRPr lang="en-IN" sz="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Novel architecture with stream-disk join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Proposes a partition-based, best-effort in-memory join technique that ingests unstructured multi-source streams without prior schema knowledge, cutting disk access.</a:t>
                      </a:r>
                      <a:endParaRPr lang="en-IN" sz="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</a:rPr>
                        <a:t>Governance and schema-drift handling left for future work</a:t>
                      </a:r>
                      <a:endParaRPr lang="en-IN" sz="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extLst>
                  <a:ext uri="{0D108BD9-81ED-4DB2-BD59-A6C34878D82A}">
                    <a16:rowId xmlns:a16="http://schemas.microsoft.com/office/drawing/2014/main" val="679584343"/>
                  </a:ext>
                </a:extLst>
              </a:tr>
              <a:tr h="42895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Yaghi (2025)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Big data ingestion and preparation tools</a:t>
                      </a:r>
                      <a:endParaRPr lang="en-IN" sz="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Comparative review of tools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Analyzes Kafka, NiFi, Flume, Sqoop, and Spark across batch and stream ingestion, recommending separation of storage and processing layers.</a:t>
                      </a:r>
                      <a:endParaRPr lang="en-IN" sz="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Real-time governance and integration complexity remain unresolved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extLst>
                  <a:ext uri="{0D108BD9-81ED-4DB2-BD59-A6C34878D82A}">
                    <a16:rowId xmlns:a16="http://schemas.microsoft.com/office/drawing/2014/main" val="505940190"/>
                  </a:ext>
                </a:extLst>
              </a:tr>
              <a:tr h="428956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Beevi (2025)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effectLst/>
                        </a:rPr>
                        <a:t>Scalable data pipelines for real-time analytics</a:t>
                      </a:r>
                      <a:endParaRPr lang="en-IN" sz="80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Comparative survey of streaming frameworks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Compares state-of-the-art frameworks on performance, fault tolerance, and cost-effectiveness for scalable ingestion pipelines.</a:t>
                      </a:r>
                      <a:endParaRPr lang="en-IN" sz="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</a:rPr>
                        <a:t>Cost-effectiveness metrics not validated against production deployments</a:t>
                      </a:r>
                      <a:endParaRPr lang="en-IN" sz="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extLst>
                  <a:ext uri="{0D108BD9-81ED-4DB2-BD59-A6C34878D82A}">
                    <a16:rowId xmlns:a16="http://schemas.microsoft.com/office/drawing/2014/main" val="1346380754"/>
                  </a:ext>
                </a:extLst>
              </a:tr>
              <a:tr h="513627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MDPI review (2025)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Evolution and challenges of real-time big data</a:t>
                      </a:r>
                      <a:endParaRPr lang="en-IN" sz="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solidFill>
                            <a:srgbClr val="000000"/>
                          </a:solidFill>
                          <a:effectLst/>
                        </a:rPr>
                        <a:t>Systematic review (2020–2025 literature)</a:t>
                      </a:r>
                      <a:endParaRPr lang="en-IN" sz="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>
                          <a:effectLst/>
                        </a:rPr>
                        <a:t>Finds Kafka Streams, Flink, and Spark Streaming have cut latency and raised throughput; notes growing use of explainable AI and incremental learning atop ingestion pipelines.</a:t>
                      </a:r>
                      <a:endParaRPr lang="en-IN" sz="80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</a:rPr>
                        <a:t>Interoperability between edge computing and centralized streaming layers underexplored</a:t>
                      </a:r>
                      <a:endParaRPr lang="en-IN" sz="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4165" marR="54165" marT="45137" marB="45137"/>
                </a:tc>
                <a:extLst>
                  <a:ext uri="{0D108BD9-81ED-4DB2-BD59-A6C34878D82A}">
                    <a16:rowId xmlns:a16="http://schemas.microsoft.com/office/drawing/2014/main" val="3744840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028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23419" y="696348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Problem </a:t>
            </a: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statements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643" y="1498208"/>
            <a:ext cx="8876714" cy="23633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F0CCF27A-B923-CFB2-E34D-92165293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1F78C6F-61BB-F36E-4E4F-5F4B50855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6BEE61-33BB-7C4B-F65B-624972AE6E4E}"/>
              </a:ext>
            </a:extLst>
          </p:cNvPr>
          <p:cNvSpPr txBox="1"/>
          <p:nvPr/>
        </p:nvSpPr>
        <p:spPr>
          <a:xfrm>
            <a:off x="133643" y="1363962"/>
            <a:ext cx="8532609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applications generate huge volumes of data continuously from distributed sources such as IoT devices, applications, APIs, databases, and system logs.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batch-processing systems cannot process this continuously generated data with low latency. 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arrives at different speeds and in different formats, making integration and processing difficult.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data processing can affect real-time monitoring and decision-making.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1400630-22AB-53EF-E8DD-7AB0B0AB996D}"/>
              </a:ext>
            </a:extLst>
          </p:cNvPr>
          <p:cNvSpPr txBox="1"/>
          <p:nvPr/>
        </p:nvSpPr>
        <p:spPr>
          <a:xfrm>
            <a:off x="474786" y="635528"/>
            <a:ext cx="774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CE05-AD0A-7F29-5B95-27F8F5F0C517}"/>
              </a:ext>
            </a:extLst>
          </p:cNvPr>
          <p:cNvSpPr txBox="1"/>
          <p:nvPr/>
        </p:nvSpPr>
        <p:spPr>
          <a:xfrm>
            <a:off x="590844" y="1216857"/>
            <a:ext cx="7512148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real-time pipeline for ingesting high-velocity data from multiple distributed sources.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Apache Kafka for reliable distributed messaging and real-time data ingestion.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process and transform streaming data using Apache Spark Streaming.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store large-scale processed data using HDFS or cloud storage such as Amazon S3.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visualize real-time analytics and pipeline performance using Grafana/Kibana.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93FA5E-3FAC-653C-BF1F-C94433B0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7F75FF7-7405-8646-9279-23F3ED3F7A73}"/>
              </a:ext>
            </a:extLst>
          </p:cNvPr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BF2F35A9-9D24-1E13-69E7-82F253B2B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FC95D88-BD82-A1D8-E133-67A51CD0D8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32012-F89F-BB12-00DC-E7310D4C0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738554"/>
            <a:ext cx="7715250" cy="433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0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801259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Multi-Source Data Ingestion Module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1" y="1361049"/>
            <a:ext cx="533165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real-time data from multiple distributed sources such as IoT devices, sensors, applications, and server logs.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the distributed messaging and data ingestion platform.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 topics organize incoming data streams and allow multiple consumers to process data independently.</a:t>
            </a:r>
          </a:p>
          <a:p>
            <a:r>
              <a:rPr lang="en-IN" sz="1600" b="1" dirty="0"/>
              <a:t>Features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Multi-Source Data Collection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Kafka Producers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 Topics and Partitions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097F4C-2DA3-A0CF-B8E9-7F0397F98C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600" y="1974096"/>
            <a:ext cx="2882418" cy="23681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731462E-ADC6-4F16-DB5F-A47D4D4CEE02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 Stream Processing &amp; Transformation Engine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068C86-17F1-551D-B9DF-D917A8D46A55}"/>
              </a:ext>
            </a:extLst>
          </p:cNvPr>
          <p:cNvSpPr/>
          <p:nvPr/>
        </p:nvSpPr>
        <p:spPr>
          <a:xfrm>
            <a:off x="457201" y="1361049"/>
            <a:ext cx="550046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continuous data streams from Apache Kafka.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 Spark Streaming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processes incoming data in real time or near real time.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data cleaning,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filtering,transformation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aggregation, and feature extraction.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Stream Processing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Filtering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78436-546B-AC64-E489-1A93BFEB6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9938" y="2200275"/>
            <a:ext cx="2962563" cy="219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2AF1F51-C6EB-0202-333A-01EB408305AD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Cloud Storage &amp; Visualization Dashboard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9519EB-7E14-9F58-4AE5-7851FCBBC64D}"/>
              </a:ext>
            </a:extLst>
          </p:cNvPr>
          <p:cNvSpPr/>
          <p:nvPr/>
        </p:nvSpPr>
        <p:spPr>
          <a:xfrm>
            <a:off x="457200" y="1361049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raw and processed big data in distributed storage systems.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for distributed on-premise storage, while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scalable cloud-based object storage.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Processed data is made available for analytics and long-term </a:t>
            </a:r>
          </a:p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storage.</a:t>
            </a:r>
          </a:p>
          <a:p>
            <a:r>
              <a:rPr lang="en-IN" sz="1600" b="1" dirty="0"/>
              <a:t>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HDFS/S3 Data Storage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Cloud Storage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Data Management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Visualization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A5C8B4-9C7A-FC1D-D7A1-8B730FFC7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011" y="2407864"/>
            <a:ext cx="2882418" cy="231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DE432-6233-A589-C10D-F573581C1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3A1168-EA9E-A8AE-81C5-FA34A1260E8F}"/>
              </a:ext>
            </a:extLst>
          </p:cNvPr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/>
              <a:t>Implementation</a:t>
            </a:r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AB2DDAF3-3433-4A2E-BA51-35BE36F15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3B85029C-35E3-8DE4-139A-F0EE11ECD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6F5A63-3E78-3DC9-FF88-9589787A1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775" y="1471061"/>
            <a:ext cx="4175106" cy="2924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6848C4-A9D7-5DD3-517E-D2630C9A61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5274" y="1561513"/>
            <a:ext cx="4708002" cy="283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095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5936566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Processing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Messaging using Apache Kafka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Big Data Pipeline Design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Serialization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Apache Spark Streaming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Storage using HDFS/S3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 Visualization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5Vs of Big Data: Volume, Velocity, Variety, Veracity, and Value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A2BB36-BC9F-C98C-6E6A-3DD3A6CC78DA}"/>
              </a:ext>
            </a:extLst>
          </p:cNvPr>
          <p:cNvSpPr txBox="1"/>
          <p:nvPr/>
        </p:nvSpPr>
        <p:spPr>
          <a:xfrm>
            <a:off x="2319195" y="542206"/>
            <a:ext cx="45056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64234"/>
            <a:ext cx="82296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Applications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797083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Smart City Data Processing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Financial Transaction Monitoring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Detection Systems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Media Analytics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Healthcare Monitoring Systems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and Manufacturing Monitoring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E-Commerce Recommendation Systems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3" name="Picture 2" descr="What Is Big Data?">
            <a:extLst>
              <a:ext uri="{FF2B5EF4-FFF2-40B4-BE49-F238E27FC236}">
                <a16:creationId xmlns:a16="http://schemas.microsoft.com/office/drawing/2014/main" id="{75C7FE3A-9340-41D8-0A64-37A03F9EDE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283" y="1175112"/>
            <a:ext cx="3123087" cy="28253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2000" b="1" dirty="0"/>
              <a:t>Future Scope</a:t>
            </a:r>
            <a:endParaRPr lang="en-US" sz="2000" b="1" dirty="0"/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2A2A853D-CA2F-3C99-F5B8-BBA1FB7B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E5C893BA-9E02-B0BF-6892-74AACA68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B32BD5-CF09-A6AF-CA85-2B4230F28F54}"/>
              </a:ext>
            </a:extLst>
          </p:cNvPr>
          <p:cNvSpPr txBox="1"/>
          <p:nvPr/>
        </p:nvSpPr>
        <p:spPr>
          <a:xfrm>
            <a:off x="390810" y="1131837"/>
            <a:ext cx="564990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Integrate more IoT and enterprise data sources.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 advanced anomaly detection.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Add machine-learning-based real-time prediction.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Use containerization with Docker and Kubernetes.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 automatic scaling.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90395" y="320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24005" y="1280759"/>
            <a:ext cx="8295990" cy="3771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ingestion of distributed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Kafka enables reliable data streaming.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Spark Streaming enables fast data processing.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HDFS/S3 provides scalable data storage.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Grafana/Kibana provides real-time visualization.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pipeline supports reliable and low-latency analytics.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B78A499-A10B-1964-FF2B-15764B2F7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9"/>
            <a:ext cx="4062270" cy="47126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7E3E331-02E3-7373-5BCE-248788A12F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C033B0-6572-066F-1DA0-6AE2A58C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BC5D08-0049-347B-8387-5F3B14C85F36}"/>
              </a:ext>
            </a:extLst>
          </p:cNvPr>
          <p:cNvSpPr/>
          <p:nvPr/>
        </p:nvSpPr>
        <p:spPr>
          <a:xfrm>
            <a:off x="390810" y="39741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Optima" pitchFamily="34" charset="-122"/>
                <a:cs typeface="Times New Roman" panose="02020603050405020304" pitchFamily="18" charset="0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698A4DD-EF4B-C581-99C4-8785C34769AA}"/>
              </a:ext>
            </a:extLst>
          </p:cNvPr>
          <p:cNvSpPr/>
          <p:nvPr/>
        </p:nvSpPr>
        <p:spPr>
          <a:xfrm>
            <a:off x="390810" y="1100797"/>
            <a:ext cx="7455877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Pacella, Massimo, et al. "A scalable framework for sensor data ingestion and real-time processing in cloud manufacturing."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18.1 (2025): 22.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Pacella, Massimo, Antonio Papa, Gabriele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Papadia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Emiliano Fedeli. "A scalable framework for sensor data ingestion and real-time processing in cloud manufacturing."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18, no. 1 (2025): 22.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Pacella M, Papa A,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Papadia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G, Fedeli E. A scalable framework for sensor data ingestion and real-time processing in cloud manufacturing. Algorithms. 2025 Jan 4;18(1):22.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Pacella, M., Papa, A.,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Papadia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&amp; Fedeli, E. (2025). A scalable framework for sensor data ingestion and real-time processing in cloud manufacturing.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22.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dmissions — SIMATS">
            <a:extLst>
              <a:ext uri="{FF2B5EF4-FFF2-40B4-BE49-F238E27FC236}">
                <a16:creationId xmlns:a16="http://schemas.microsoft.com/office/drawing/2014/main" id="{B6196B2C-94E2-0A6F-03FE-021AE391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56271"/>
            <a:ext cx="4062270" cy="492370"/>
          </a:xfrm>
          <a:prstGeom prst="rect">
            <a:avLst/>
          </a:prstGeom>
        </p:spPr>
      </p:pic>
      <p:pic>
        <p:nvPicPr>
          <p:cNvPr id="7" name="Picture 6" descr="Saveetha University">
            <a:extLst>
              <a:ext uri="{FF2B5EF4-FFF2-40B4-BE49-F238E27FC236}">
                <a16:creationId xmlns:a16="http://schemas.microsoft.com/office/drawing/2014/main" id="{55F77348-E895-C5CC-4B63-6CC63755B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497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5,895 Thank You Sign Royalty-Free Images, Stock Photos &amp; Pictures |  Shutterstock">
            <a:extLst>
              <a:ext uri="{FF2B5EF4-FFF2-40B4-BE49-F238E27FC236}">
                <a16:creationId xmlns:a16="http://schemas.microsoft.com/office/drawing/2014/main" id="{6110245E-94C9-12DB-2750-254B00CE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3"/>
          <a:stretch>
            <a:fillRect/>
          </a:stretch>
        </p:blipFill>
        <p:spPr>
          <a:xfrm>
            <a:off x="1540412" y="1208099"/>
            <a:ext cx="5944626" cy="30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1123</Words>
  <Application>Microsoft Office PowerPoint</Application>
  <PresentationFormat>On-screen Show (16:9)</PresentationFormat>
  <Paragraphs>154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Times New Roman</vt:lpstr>
      <vt:lpstr>Wingdings</vt:lpstr>
      <vt:lpstr>Office Theme</vt:lpstr>
      <vt:lpstr>Real-Time Big Data Ingestion Pipeline from Distributed Sources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Sandeep Manukondu</cp:lastModifiedBy>
  <cp:revision>6</cp:revision>
  <dcterms:created xsi:type="dcterms:W3CDTF">2026-07-22T02:09:05Z</dcterms:created>
  <dcterms:modified xsi:type="dcterms:W3CDTF">2026-08-27T04:25:17Z</dcterms:modified>
</cp:coreProperties>
</file>