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89" r:id="rId2"/>
    <p:sldId id="257" r:id="rId3"/>
    <p:sldId id="290" r:id="rId4"/>
    <p:sldId id="295" r:id="rId5"/>
    <p:sldId id="258" r:id="rId6"/>
    <p:sldId id="259" r:id="rId7"/>
    <p:sldId id="298" r:id="rId8"/>
    <p:sldId id="260" r:id="rId9"/>
    <p:sldId id="291" r:id="rId10"/>
    <p:sldId id="292" r:id="rId11"/>
    <p:sldId id="297" r:id="rId12"/>
    <p:sldId id="264" r:id="rId13"/>
    <p:sldId id="261" r:id="rId14"/>
    <p:sldId id="267" r:id="rId15"/>
    <p:sldId id="265" r:id="rId16"/>
    <p:sldId id="296" r:id="rId17"/>
    <p:sldId id="293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A664FF3-FD6E-463F-8332-EDB07A23C598}" v="4" dt="2026-08-21T15:39:39.69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ndeep Manukondu" userId="038449def7667ad9" providerId="LiveId" clId="{F0563954-D6B0-4E99-8101-AABE55B70F38}"/>
    <pc:docChg chg="custSel addSld delSld modSld sldOrd">
      <pc:chgData name="Sandeep Manukondu" userId="038449def7667ad9" providerId="LiveId" clId="{F0563954-D6B0-4E99-8101-AABE55B70F38}" dt="2026-08-27T04:25:16.091" v="96" actId="47"/>
      <pc:docMkLst>
        <pc:docMk/>
      </pc:docMkLst>
      <pc:sldChg chg="addSp delSp modSp mod">
        <pc:chgData name="Sandeep Manukondu" userId="038449def7667ad9" providerId="LiveId" clId="{F0563954-D6B0-4E99-8101-AABE55B70F38}" dt="2026-08-27T04:23:20.967" v="85" actId="1076"/>
        <pc:sldMkLst>
          <pc:docMk/>
          <pc:sldMk cId="0" sldId="260"/>
        </pc:sldMkLst>
        <pc:picChg chg="del">
          <ac:chgData name="Sandeep Manukondu" userId="038449def7667ad9" providerId="LiveId" clId="{F0563954-D6B0-4E99-8101-AABE55B70F38}" dt="2026-08-27T04:23:08.677" v="82" actId="478"/>
          <ac:picMkLst>
            <pc:docMk/>
            <pc:sldMk cId="0" sldId="260"/>
            <ac:picMk id="2" creationId="{4276EA7B-B11B-5F91-7C4A-CC8DBD3B52DF}"/>
          </ac:picMkLst>
        </pc:picChg>
        <pc:picChg chg="add mod">
          <ac:chgData name="Sandeep Manukondu" userId="038449def7667ad9" providerId="LiveId" clId="{F0563954-D6B0-4E99-8101-AABE55B70F38}" dt="2026-08-27T04:23:20.967" v="85" actId="1076"/>
          <ac:picMkLst>
            <pc:docMk/>
            <pc:sldMk cId="0" sldId="260"/>
            <ac:picMk id="7" creationId="{DD097F4C-2DA3-A0CF-B8E9-7F0397F98C96}"/>
          </ac:picMkLst>
        </pc:picChg>
      </pc:sldChg>
      <pc:sldChg chg="addSp delSp modSp mod">
        <pc:chgData name="Sandeep Manukondu" userId="038449def7667ad9" providerId="LiveId" clId="{F0563954-D6B0-4E99-8101-AABE55B70F38}" dt="2026-08-27T04:24:28.657" v="89" actId="1076"/>
        <pc:sldMkLst>
          <pc:docMk/>
          <pc:sldMk cId="75818756" sldId="291"/>
        </pc:sldMkLst>
        <pc:picChg chg="del">
          <ac:chgData name="Sandeep Manukondu" userId="038449def7667ad9" providerId="LiveId" clId="{F0563954-D6B0-4E99-8101-AABE55B70F38}" dt="2026-08-27T04:24:10.466" v="86" actId="478"/>
          <ac:picMkLst>
            <pc:docMk/>
            <pc:sldMk cId="75818756" sldId="291"/>
            <ac:picMk id="3" creationId="{3A42A9E6-CE49-7E52-54E8-F59DF26FCEC9}"/>
          </ac:picMkLst>
        </pc:picChg>
        <pc:picChg chg="add mod">
          <ac:chgData name="Sandeep Manukondu" userId="038449def7667ad9" providerId="LiveId" clId="{F0563954-D6B0-4E99-8101-AABE55B70F38}" dt="2026-08-27T04:24:28.657" v="89" actId="1076"/>
          <ac:picMkLst>
            <pc:docMk/>
            <pc:sldMk cId="75818756" sldId="291"/>
            <ac:picMk id="7" creationId="{DAF78436-546B-AC64-E489-1A93BFEB6969}"/>
          </ac:picMkLst>
        </pc:picChg>
      </pc:sldChg>
      <pc:sldChg chg="addSp delSp modSp mod">
        <pc:chgData name="Sandeep Manukondu" userId="038449def7667ad9" providerId="LiveId" clId="{F0563954-D6B0-4E99-8101-AABE55B70F38}" dt="2026-08-27T04:25:05.351" v="95" actId="5793"/>
        <pc:sldMkLst>
          <pc:docMk/>
          <pc:sldMk cId="1782216241" sldId="292"/>
        </pc:sldMkLst>
        <pc:spChg chg="mod">
          <ac:chgData name="Sandeep Manukondu" userId="038449def7667ad9" providerId="LiveId" clId="{F0563954-D6B0-4E99-8101-AABE55B70F38}" dt="2026-08-27T04:25:05.351" v="95" actId="5793"/>
          <ac:spMkLst>
            <pc:docMk/>
            <pc:sldMk cId="1782216241" sldId="292"/>
            <ac:spMk id="5" creationId="{DA9519EB-7E14-9F58-4AE5-7851FCBBC64D}"/>
          </ac:spMkLst>
        </pc:spChg>
        <pc:picChg chg="del">
          <ac:chgData name="Sandeep Manukondu" userId="038449def7667ad9" providerId="LiveId" clId="{F0563954-D6B0-4E99-8101-AABE55B70F38}" dt="2026-08-27T04:24:33.684" v="90" actId="478"/>
          <ac:picMkLst>
            <pc:docMk/>
            <pc:sldMk cId="1782216241" sldId="292"/>
            <ac:picMk id="2" creationId="{03E6E4D4-0B32-18A8-ADCE-E41A3C867F89}"/>
          </ac:picMkLst>
        </pc:picChg>
        <pc:picChg chg="add mod">
          <ac:chgData name="Sandeep Manukondu" userId="038449def7667ad9" providerId="LiveId" clId="{F0563954-D6B0-4E99-8101-AABE55B70F38}" dt="2026-08-27T04:24:58.969" v="93" actId="1076"/>
          <ac:picMkLst>
            <pc:docMk/>
            <pc:sldMk cId="1782216241" sldId="292"/>
            <ac:picMk id="7" creationId="{BEA5C8B4-9C7A-FC1D-D7A1-8B730FFC7307}"/>
          </ac:picMkLst>
        </pc:picChg>
      </pc:sldChg>
      <pc:sldChg chg="modSp mod">
        <pc:chgData name="Sandeep Manukondu" userId="038449def7667ad9" providerId="LiveId" clId="{F0563954-D6B0-4E99-8101-AABE55B70F38}" dt="2026-08-21T16:05:06.088" v="15" actId="123"/>
        <pc:sldMkLst>
          <pc:docMk/>
          <pc:sldMk cId="3175497464" sldId="296"/>
        </pc:sldMkLst>
        <pc:spChg chg="mod">
          <ac:chgData name="Sandeep Manukondu" userId="038449def7667ad9" providerId="LiveId" clId="{F0563954-D6B0-4E99-8101-AABE55B70F38}" dt="2026-08-21T16:05:06.088" v="15" actId="123"/>
          <ac:spMkLst>
            <pc:docMk/>
            <pc:sldMk cId="3175497464" sldId="296"/>
            <ac:spMk id="3" creationId="{2698A4DD-EF4B-C581-99C4-8785C34769AA}"/>
          </ac:spMkLst>
        </pc:spChg>
      </pc:sldChg>
      <pc:sldChg chg="addSp delSp modSp add mod ord">
        <pc:chgData name="Sandeep Manukondu" userId="038449def7667ad9" providerId="LiveId" clId="{F0563954-D6B0-4E99-8101-AABE55B70F38}" dt="2026-08-21T16:14:48.965" v="53"/>
        <pc:sldMkLst>
          <pc:docMk/>
          <pc:sldMk cId="1987095573" sldId="297"/>
        </pc:sldMkLst>
        <pc:spChg chg="mod">
          <ac:chgData name="Sandeep Manukondu" userId="038449def7667ad9" providerId="LiveId" clId="{F0563954-D6B0-4E99-8101-AABE55B70F38}" dt="2026-08-21T16:07:47.078" v="31" actId="20577"/>
          <ac:spMkLst>
            <pc:docMk/>
            <pc:sldMk cId="1987095573" sldId="297"/>
            <ac:spMk id="2" creationId="{803A1168-EA9E-A8AE-81C5-FA34A1260E8F}"/>
          </ac:spMkLst>
        </pc:spChg>
        <pc:picChg chg="add mod">
          <ac:chgData name="Sandeep Manukondu" userId="038449def7667ad9" providerId="LiveId" clId="{F0563954-D6B0-4E99-8101-AABE55B70F38}" dt="2026-08-21T16:13:29.629" v="51" actId="1076"/>
          <ac:picMkLst>
            <pc:docMk/>
            <pc:sldMk cId="1987095573" sldId="297"/>
            <ac:picMk id="4" creationId="{326F5A63-3E78-3DC9-FF88-9589787A1239}"/>
          </ac:picMkLst>
        </pc:picChg>
        <pc:picChg chg="add mod">
          <ac:chgData name="Sandeep Manukondu" userId="038449def7667ad9" providerId="LiveId" clId="{F0563954-D6B0-4E99-8101-AABE55B70F38}" dt="2026-08-21T16:13:10.775" v="47" actId="1076"/>
          <ac:picMkLst>
            <pc:docMk/>
            <pc:sldMk cId="1987095573" sldId="297"/>
            <ac:picMk id="9" creationId="{A26848C4-A9D7-5DD3-517E-D2630C9A61D2}"/>
          </ac:picMkLst>
        </pc:picChg>
      </pc:sldChg>
      <pc:sldChg chg="addSp delSp modSp add mod">
        <pc:chgData name="Sandeep Manukondu" userId="038449def7667ad9" providerId="LiveId" clId="{F0563954-D6B0-4E99-8101-AABE55B70F38}" dt="2026-08-24T16:05:02.990" v="62" actId="14100"/>
        <pc:sldMkLst>
          <pc:docMk/>
          <pc:sldMk cId="856205017" sldId="298"/>
        </pc:sldMkLst>
        <pc:picChg chg="add mod">
          <ac:chgData name="Sandeep Manukondu" userId="038449def7667ad9" providerId="LiveId" clId="{F0563954-D6B0-4E99-8101-AABE55B70F38}" dt="2026-08-24T16:05:02.990" v="62" actId="14100"/>
          <ac:picMkLst>
            <pc:docMk/>
            <pc:sldMk cId="856205017" sldId="298"/>
            <ac:picMk id="7" creationId="{4EE32012-F89F-BB12-00DC-E7310D4C00D5}"/>
          </ac:picMkLst>
        </pc:picChg>
      </pc:sldChg>
      <pc:sldChg chg="addSp delSp modSp add del mod">
        <pc:chgData name="Sandeep Manukondu" userId="038449def7667ad9" providerId="LiveId" clId="{F0563954-D6B0-4E99-8101-AABE55B70F38}" dt="2026-08-27T04:25:16.091" v="96" actId="47"/>
        <pc:sldMkLst>
          <pc:docMk/>
          <pc:sldMk cId="3104500062" sldId="299"/>
        </pc:sldMkLst>
        <pc:picChg chg="add del mod">
          <ac:chgData name="Sandeep Manukondu" userId="038449def7667ad9" providerId="LiveId" clId="{F0563954-D6B0-4E99-8101-AABE55B70F38}" dt="2026-08-27T04:24:18.576" v="87" actId="21"/>
          <ac:picMkLst>
            <pc:docMk/>
            <pc:sldMk cId="3104500062" sldId="299"/>
            <ac:picMk id="3" creationId="{7F96498B-9DD6-4D8A-495B-649D32FCE61A}"/>
          </ac:picMkLst>
        </pc:picChg>
        <pc:picChg chg="del">
          <ac:chgData name="Sandeep Manukondu" userId="038449def7667ad9" providerId="LiveId" clId="{F0563954-D6B0-4E99-8101-AABE55B70F38}" dt="2026-08-27T04:19:03.798" v="64" actId="478"/>
          <ac:picMkLst>
            <pc:docMk/>
            <pc:sldMk cId="3104500062" sldId="299"/>
            <ac:picMk id="4" creationId="{11F6132F-E4D5-EDA9-E5FE-7F3B20F3C673}"/>
          </ac:picMkLst>
        </pc:picChg>
        <pc:picChg chg="add del mod">
          <ac:chgData name="Sandeep Manukondu" userId="038449def7667ad9" providerId="LiveId" clId="{F0563954-D6B0-4E99-8101-AABE55B70F38}" dt="2026-08-27T04:23:04.951" v="81" actId="21"/>
          <ac:picMkLst>
            <pc:docMk/>
            <pc:sldMk cId="3104500062" sldId="299"/>
            <ac:picMk id="6" creationId="{E27D8B0D-6DBC-03E9-51EA-AC4AEFF3B6A4}"/>
          </ac:picMkLst>
        </pc:picChg>
        <pc:picChg chg="add del mod">
          <ac:chgData name="Sandeep Manukondu" userId="038449def7667ad9" providerId="LiveId" clId="{F0563954-D6B0-4E99-8101-AABE55B70F38}" dt="2026-08-27T04:24:47.517" v="91" actId="21"/>
          <ac:picMkLst>
            <pc:docMk/>
            <pc:sldMk cId="3104500062" sldId="299"/>
            <ac:picMk id="8" creationId="{B752C349-3EA3-492D-1290-026B7D56FE74}"/>
          </ac:picMkLst>
        </pc:picChg>
        <pc:picChg chg="del">
          <ac:chgData name="Sandeep Manukondu" userId="038449def7667ad9" providerId="LiveId" clId="{F0563954-D6B0-4E99-8101-AABE55B70F38}" dt="2026-08-27T04:19:05.620" v="65" actId="478"/>
          <ac:picMkLst>
            <pc:docMk/>
            <pc:sldMk cId="3104500062" sldId="299"/>
            <ac:picMk id="9" creationId="{087E4A0F-C9DD-B717-077A-053BE0477A11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78239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 source: https://pub.mdpi-res.com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D26E9-BA8F-E31B-21D7-CE9A55466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A9AA4C-2540-19FE-293C-F9108E32B2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635BAB-1402-43D3-E669-C7FDF75B4E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 source: https://www.mdpi.com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ED5C1A-C522-CC12-B7E4-D2044E66E3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08404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EB82F-6CF4-B18B-CC27-03DD0DA17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C726B9-220B-89E3-2EDF-B2EB4EA422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E9D9D3-A9C0-6784-E868-6D5486DAFA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 source: https://www.mdpi.com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DFB9E6-5588-72F3-0422-5A27FBD767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03796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 source: https://www.mdpi.com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 source: https://pub.mdpi-res.com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AD228-90BC-5202-80B0-FCAC1F3D9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2931DD-10A1-D78D-C27C-12C29C5016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FC77C7-CBE2-1445-5CE3-89DD9EB214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 source: https://pub.mdpi-res.com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1C38F6-592F-2CD0-D02B-CF647BDE24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6726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 source: https://pub.mdpi-res.com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D5D28-F798-FD30-697D-DE35EAF10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3B9A38-EBBA-2131-51BF-DB68F2831C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5A5038-C06F-3A3F-6E03-498D60A2AD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 source: https://pub.mdpi-res.com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574F30-3822-C83A-DB56-9F29EDCA56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4823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95508-3CFF-D885-04E2-6CE1BBFC5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D542E2-006E-3489-879E-6F01D58F5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39E707-A6E1-4737-C44E-B3C22B0C45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 source: https://pub.mdpi-res.com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0A60C3-7970-EC27-A90D-483A94746C1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5327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58A0D-DC06-802E-C8D8-3F3E7A0CB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9CFFE1-3894-16DD-EC64-0964135BCD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1D3B84-47BE-D894-17E4-65B29FE55D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997004-6872-B946-1CCF-862B24F955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439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 source: https://pub.mdpi-res.com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 source: https://www.mdpi.com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 source: https://pub.mdpi-res.com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BFCDE-E691-8516-3AC4-44820DA89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9BF8D2-AB78-F338-FE71-2BEC38744C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B30E58-1395-653C-76A5-8E9B0CC61B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EEFC8A-C432-BC8D-B9CF-69B2C0A9A9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72031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8035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jpeg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57094-8701-F282-F96B-11BA02B68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609820"/>
            <a:ext cx="7886700" cy="994172"/>
          </a:xfrm>
        </p:spPr>
        <p:txBody>
          <a:bodyPr>
            <a:normAutofit/>
          </a:bodyPr>
          <a:lstStyle/>
          <a:p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Big Data Ingestion Pipeline from Distributed Sources</a:t>
            </a:r>
            <a:endParaRPr lang="en-IN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90D3E2-F610-2747-1C75-E6CF00CE5E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5787" y="2571750"/>
            <a:ext cx="7886700" cy="272927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IN" sz="1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CSA1522-CLOUD COMPUTING &amp; BIG DATA ANALYTICS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B2EF99-82AA-F1F2-9A6E-5718A160EF18}"/>
              </a:ext>
            </a:extLst>
          </p:cNvPr>
          <p:cNvSpPr txBox="1"/>
          <p:nvPr/>
        </p:nvSpPr>
        <p:spPr>
          <a:xfrm>
            <a:off x="5324622" y="3672812"/>
            <a:ext cx="35520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350" b="1" dirty="0"/>
              <a:t>Name of the student :</a:t>
            </a:r>
          </a:p>
          <a:p>
            <a:r>
              <a:rPr lang="en-IN" sz="1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Gali Venkata Niranjan Reddy (192525199)</a:t>
            </a:r>
          </a:p>
          <a:p>
            <a:r>
              <a:rPr lang="en-IN" sz="1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Mamidi Jaya Krishna (192524500)</a:t>
            </a:r>
          </a:p>
          <a:p>
            <a:r>
              <a:rPr lang="en-IN" sz="13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Manukondu</a:t>
            </a:r>
            <a:r>
              <a:rPr lang="en-IN" sz="1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Sandeep (192525095)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C0B79C-0873-08C5-C549-9711070DE923}"/>
              </a:ext>
            </a:extLst>
          </p:cNvPr>
          <p:cNvSpPr txBox="1"/>
          <p:nvPr/>
        </p:nvSpPr>
        <p:spPr>
          <a:xfrm>
            <a:off x="628650" y="3672812"/>
            <a:ext cx="2030575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350" b="1" dirty="0"/>
              <a:t>Guided by :</a:t>
            </a:r>
          </a:p>
          <a:p>
            <a:r>
              <a:rPr lang="en-IN" sz="1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Dr. Rajaram P </a:t>
            </a:r>
          </a:p>
        </p:txBody>
      </p:sp>
      <p:pic>
        <p:nvPicPr>
          <p:cNvPr id="17" name="Picture 16" descr="Saveetha University">
            <a:extLst>
              <a:ext uri="{FF2B5EF4-FFF2-40B4-BE49-F238E27FC236}">
                <a16:creationId xmlns:a16="http://schemas.microsoft.com/office/drawing/2014/main" id="{4E65343F-AFCE-2551-4001-5C99A78522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874" y="237952"/>
            <a:ext cx="4062270" cy="831193"/>
          </a:xfrm>
          <a:prstGeom prst="rect">
            <a:avLst/>
          </a:prstGeom>
        </p:spPr>
      </p:pic>
      <p:pic>
        <p:nvPicPr>
          <p:cNvPr id="20" name="Picture 19" descr="Admissions — SIMATS">
            <a:extLst>
              <a:ext uri="{FF2B5EF4-FFF2-40B4-BE49-F238E27FC236}">
                <a16:creationId xmlns:a16="http://schemas.microsoft.com/office/drawing/2014/main" id="{76952476-05EE-764E-40A1-59AA06F4F2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0920" y="184697"/>
            <a:ext cx="4062270" cy="994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2405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502919" y="565066"/>
            <a:ext cx="7828671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400" b="1" dirty="0">
                <a:solidFill>
                  <a:srgbClr val="000000"/>
                </a:solidFill>
                <a:latin typeface="Times New Roman" panose="02020603050405020304" pitchFamily="18" charset="0"/>
                <a:ea typeface="Optima" pitchFamily="34" charset="-122"/>
                <a:cs typeface="Times New Roman" panose="02020603050405020304" pitchFamily="18" charset="0"/>
              </a:rPr>
              <a:t>Introduction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 descr="Saveetha University">
            <a:extLst>
              <a:ext uri="{FF2B5EF4-FFF2-40B4-BE49-F238E27FC236}">
                <a16:creationId xmlns:a16="http://schemas.microsoft.com/office/drawing/2014/main" id="{136D5878-E3A8-758A-AA8F-A6722FC721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61" y="90841"/>
            <a:ext cx="4062270" cy="458399"/>
          </a:xfrm>
          <a:prstGeom prst="rect">
            <a:avLst/>
          </a:prstGeom>
        </p:spPr>
      </p:pic>
      <p:pic>
        <p:nvPicPr>
          <p:cNvPr id="10" name="Picture 9" descr="Admissions — SIMATS">
            <a:extLst>
              <a:ext uri="{FF2B5EF4-FFF2-40B4-BE49-F238E27FC236}">
                <a16:creationId xmlns:a16="http://schemas.microsoft.com/office/drawing/2014/main" id="{94DCDD7C-829E-44A1-95C5-E26E65B00F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2463" y="90840"/>
            <a:ext cx="4062270" cy="45839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E17C43D-7953-5BC1-E54E-298B9B3C2AC4}"/>
              </a:ext>
            </a:extLst>
          </p:cNvPr>
          <p:cNvSpPr txBox="1"/>
          <p:nvPr/>
        </p:nvSpPr>
        <p:spPr>
          <a:xfrm>
            <a:off x="502919" y="1362808"/>
            <a:ext cx="5053819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Big Data applications generate massive volumes of data from multiple distributed sources in real time.</a:t>
            </a:r>
          </a:p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Data may come from IoT devices, sensors, web applications, social media, servers, and enterprise systems.</a:t>
            </a:r>
          </a:p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Traditional data processing methods may not handle high-velocity and continuously generated data efficiently. </a:t>
            </a:r>
          </a:p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real-time big data ingestion pipeline collects, processes, stores, and visualizes data with minimum delay.</a:t>
            </a:r>
          </a:p>
          <a:p>
            <a:endParaRPr lang="en-IN" dirty="0"/>
          </a:p>
        </p:txBody>
      </p:sp>
      <p:pic>
        <p:nvPicPr>
          <p:cNvPr id="3" name="Picture 2" descr="Real Time Streaming Application with Apache Spark">
            <a:extLst>
              <a:ext uri="{FF2B5EF4-FFF2-40B4-BE49-F238E27FC236}">
                <a16:creationId xmlns:a16="http://schemas.microsoft.com/office/drawing/2014/main" id="{87F35FF6-383D-0686-D60C-9A74BC37AA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3473" y="1747837"/>
            <a:ext cx="2927608" cy="202230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68966B-5E45-C503-F811-0B60D711E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20DA9B9C-9C1F-C1B6-ABBC-088B0E145F98}"/>
              </a:ext>
            </a:extLst>
          </p:cNvPr>
          <p:cNvSpPr/>
          <p:nvPr/>
        </p:nvSpPr>
        <p:spPr>
          <a:xfrm>
            <a:off x="254881" y="703681"/>
            <a:ext cx="8229600" cy="5205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400" b="1" dirty="0">
                <a:solidFill>
                  <a:srgbClr val="000000"/>
                </a:solidFill>
                <a:latin typeface="Times New Roman" panose="02020603050405020304" pitchFamily="18" charset="0"/>
                <a:ea typeface="Optima" pitchFamily="34" charset="-122"/>
                <a:cs typeface="Times New Roman" panose="02020603050405020304" pitchFamily="18" charset="0"/>
              </a:rPr>
              <a:t>Abstract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 descr="Admissions — SIMATS">
            <a:extLst>
              <a:ext uri="{FF2B5EF4-FFF2-40B4-BE49-F238E27FC236}">
                <a16:creationId xmlns:a16="http://schemas.microsoft.com/office/drawing/2014/main" id="{3F807FF4-D4C7-17C6-A289-C41F49E559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0920" y="84406"/>
            <a:ext cx="4062270" cy="520505"/>
          </a:xfrm>
          <a:prstGeom prst="rect">
            <a:avLst/>
          </a:prstGeom>
        </p:spPr>
      </p:pic>
      <p:pic>
        <p:nvPicPr>
          <p:cNvPr id="8" name="Picture 7" descr="Saveetha University">
            <a:extLst>
              <a:ext uri="{FF2B5EF4-FFF2-40B4-BE49-F238E27FC236}">
                <a16:creationId xmlns:a16="http://schemas.microsoft.com/office/drawing/2014/main" id="{D77DB304-48B3-37F1-090D-E176DD71BA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" y="90841"/>
            <a:ext cx="4062270" cy="45839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61F0D18-9889-2140-D361-BE8DAD21DC8D}"/>
              </a:ext>
            </a:extLst>
          </p:cNvPr>
          <p:cNvSpPr txBox="1"/>
          <p:nvPr/>
        </p:nvSpPr>
        <p:spPr>
          <a:xfrm>
            <a:off x="606574" y="1392700"/>
            <a:ext cx="7877907" cy="25355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Ingests high-velocity data from multiple sources.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Apache Kafka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real-time data ingestion.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Apache Spark Streaming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data processing.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HDFS/S3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large-scale data storage.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Grafana/Kibana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real-time visualization.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reliable and scalable data processing.</a:t>
            </a:r>
          </a:p>
        </p:txBody>
      </p:sp>
    </p:spTree>
    <p:extLst>
      <p:ext uri="{BB962C8B-B14F-4D97-AF65-F5344CB8AC3E}">
        <p14:creationId xmlns:p14="http://schemas.microsoft.com/office/powerpoint/2010/main" val="8223734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2E9BAA-B8B9-5C41-44D0-E2C4A7235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BB886956-33EA-0EEA-8DE4-995064E1F155}"/>
              </a:ext>
            </a:extLst>
          </p:cNvPr>
          <p:cNvSpPr/>
          <p:nvPr/>
        </p:nvSpPr>
        <p:spPr>
          <a:xfrm>
            <a:off x="-124660" y="521128"/>
            <a:ext cx="8229600" cy="644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IN" sz="2000" b="1" dirty="0"/>
              <a:t>Literature Review 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 descr="Admissions — SIMATS">
            <a:extLst>
              <a:ext uri="{FF2B5EF4-FFF2-40B4-BE49-F238E27FC236}">
                <a16:creationId xmlns:a16="http://schemas.microsoft.com/office/drawing/2014/main" id="{EB562334-B471-280F-DD6B-E08C0CBA3C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6260" y="56295"/>
            <a:ext cx="4062270" cy="644996"/>
          </a:xfrm>
          <a:prstGeom prst="rect">
            <a:avLst/>
          </a:prstGeom>
        </p:spPr>
      </p:pic>
      <p:pic>
        <p:nvPicPr>
          <p:cNvPr id="8" name="Picture 7" descr="Saveetha University">
            <a:extLst>
              <a:ext uri="{FF2B5EF4-FFF2-40B4-BE49-F238E27FC236}">
                <a16:creationId xmlns:a16="http://schemas.microsoft.com/office/drawing/2014/main" id="{C7337C90-0032-865B-8BCC-7C36063745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2599" y="77584"/>
            <a:ext cx="4062270" cy="568036"/>
          </a:xfrm>
          <a:prstGeom prst="rect">
            <a:avLst/>
          </a:prstGeom>
        </p:spPr>
      </p:pic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42DDE24E-CF9A-4C71-57D6-E6EFCC1DF6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8669829"/>
              </p:ext>
            </p:extLst>
          </p:nvPr>
        </p:nvGraphicFramePr>
        <p:xfrm>
          <a:off x="629785" y="1222753"/>
          <a:ext cx="7372663" cy="339269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87575">
                  <a:extLst>
                    <a:ext uri="{9D8B030D-6E8A-4147-A177-3AD203B41FA5}">
                      <a16:colId xmlns:a16="http://schemas.microsoft.com/office/drawing/2014/main" val="2213997980"/>
                    </a:ext>
                  </a:extLst>
                </a:gridCol>
                <a:gridCol w="1471272">
                  <a:extLst>
                    <a:ext uri="{9D8B030D-6E8A-4147-A177-3AD203B41FA5}">
                      <a16:colId xmlns:a16="http://schemas.microsoft.com/office/drawing/2014/main" val="460266463"/>
                    </a:ext>
                  </a:extLst>
                </a:gridCol>
                <a:gridCol w="1471272">
                  <a:extLst>
                    <a:ext uri="{9D8B030D-6E8A-4147-A177-3AD203B41FA5}">
                      <a16:colId xmlns:a16="http://schemas.microsoft.com/office/drawing/2014/main" val="2550302728"/>
                    </a:ext>
                  </a:extLst>
                </a:gridCol>
                <a:gridCol w="1471272">
                  <a:extLst>
                    <a:ext uri="{9D8B030D-6E8A-4147-A177-3AD203B41FA5}">
                      <a16:colId xmlns:a16="http://schemas.microsoft.com/office/drawing/2014/main" val="1287943774"/>
                    </a:ext>
                  </a:extLst>
                </a:gridCol>
                <a:gridCol w="1471272">
                  <a:extLst>
                    <a:ext uri="{9D8B030D-6E8A-4147-A177-3AD203B41FA5}">
                      <a16:colId xmlns:a16="http://schemas.microsoft.com/office/drawing/2014/main" val="124646485"/>
                    </a:ext>
                  </a:extLst>
                </a:gridCol>
              </a:tblGrid>
              <a:tr h="17494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900" b="1" dirty="0">
                          <a:solidFill>
                            <a:srgbClr val="000000"/>
                          </a:solidFill>
                          <a:effectLst/>
                        </a:rPr>
                        <a:t>Author(s) &amp; year</a:t>
                      </a:r>
                      <a:endParaRPr lang="en-IN" sz="900" b="1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54165" marR="54165" marT="45137" marB="45137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900" b="1" dirty="0">
                          <a:solidFill>
                            <a:srgbClr val="000000"/>
                          </a:solidFill>
                          <a:effectLst/>
                        </a:rPr>
                        <a:t>Study focus</a:t>
                      </a:r>
                      <a:endParaRPr lang="en-IN" sz="900" b="1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54165" marR="54165" marT="45137" marB="45137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900" b="1" dirty="0">
                          <a:solidFill>
                            <a:srgbClr val="000000"/>
                          </a:solidFill>
                          <a:effectLst/>
                        </a:rPr>
                        <a:t>Methodology</a:t>
                      </a:r>
                      <a:endParaRPr lang="en-IN" sz="900" b="1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54165" marR="54165" marT="45137" marB="45137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900" b="1" dirty="0">
                          <a:solidFill>
                            <a:srgbClr val="000000"/>
                          </a:solidFill>
                          <a:effectLst/>
                        </a:rPr>
                        <a:t>Key findings</a:t>
                      </a:r>
                      <a:endParaRPr lang="en-IN" sz="900" b="1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54165" marR="54165" marT="45137" marB="45137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900" b="1" dirty="0">
                          <a:solidFill>
                            <a:srgbClr val="000000"/>
                          </a:solidFill>
                          <a:effectLst/>
                        </a:rPr>
                        <a:t>Gaps identified</a:t>
                      </a:r>
                      <a:endParaRPr lang="en-IN" sz="900" b="1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54165" marR="54165" marT="45137" marB="45137" anchor="ctr"/>
                </a:tc>
                <a:extLst>
                  <a:ext uri="{0D108BD9-81ED-4DB2-BD59-A6C34878D82A}">
                    <a16:rowId xmlns:a16="http://schemas.microsoft.com/office/drawing/2014/main" val="1771335098"/>
                  </a:ext>
                </a:extLst>
              </a:tr>
              <a:tr h="513627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800" dirty="0">
                          <a:solidFill>
                            <a:srgbClr val="000000"/>
                          </a:solidFill>
                          <a:effectLst/>
                        </a:rPr>
                        <a:t>Springer KAIS study (2022)</a:t>
                      </a:r>
                      <a:endParaRPr lang="en-IN" sz="8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54165" marR="54165" marT="45137" marB="45137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800" dirty="0">
                          <a:effectLst/>
                        </a:rPr>
                        <a:t>Distributed real-time ETL for unstructured data</a:t>
                      </a:r>
                      <a:endParaRPr lang="en-IN" sz="80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54165" marR="54165" marT="45137" marB="45137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800" dirty="0">
                          <a:solidFill>
                            <a:srgbClr val="000000"/>
                          </a:solidFill>
                          <a:effectLst/>
                        </a:rPr>
                        <a:t>Novel architecture with stream-disk join</a:t>
                      </a:r>
                      <a:endParaRPr lang="en-IN" sz="8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54165" marR="54165" marT="45137" marB="45137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800">
                          <a:effectLst/>
                        </a:rPr>
                        <a:t>Proposes a partition-based, best-effort in-memory join technique that ingests unstructured multi-source streams without prior schema knowledge, cutting disk access.</a:t>
                      </a:r>
                      <a:endParaRPr lang="en-IN" sz="8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54165" marR="54165" marT="45137" marB="45137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800" dirty="0">
                          <a:solidFill>
                            <a:srgbClr val="000000"/>
                          </a:solidFill>
                          <a:effectLst/>
                        </a:rPr>
                        <a:t>Governance and schema-drift handling left for future work</a:t>
                      </a:r>
                      <a:endParaRPr lang="en-IN" sz="8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54165" marR="54165" marT="45137" marB="45137"/>
                </a:tc>
                <a:extLst>
                  <a:ext uri="{0D108BD9-81ED-4DB2-BD59-A6C34878D82A}">
                    <a16:rowId xmlns:a16="http://schemas.microsoft.com/office/drawing/2014/main" val="679584343"/>
                  </a:ext>
                </a:extLst>
              </a:tr>
              <a:tr h="428956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800">
                          <a:solidFill>
                            <a:srgbClr val="000000"/>
                          </a:solidFill>
                          <a:effectLst/>
                        </a:rPr>
                        <a:t>Yaghi (2025)</a:t>
                      </a:r>
                      <a:endParaRPr lang="en-IN" sz="8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54165" marR="54165" marT="45137" marB="45137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800">
                          <a:effectLst/>
                        </a:rPr>
                        <a:t>Big data ingestion and preparation tools</a:t>
                      </a:r>
                      <a:endParaRPr lang="en-IN" sz="8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54165" marR="54165" marT="45137" marB="45137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800">
                          <a:solidFill>
                            <a:srgbClr val="000000"/>
                          </a:solidFill>
                          <a:effectLst/>
                        </a:rPr>
                        <a:t>Comparative review of tools</a:t>
                      </a:r>
                      <a:endParaRPr lang="en-IN" sz="8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54165" marR="54165" marT="45137" marB="45137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800">
                          <a:effectLst/>
                        </a:rPr>
                        <a:t>Analyzes Kafka, NiFi, Flume, Sqoop, and Spark across batch and stream ingestion, recommending separation of storage and processing layers.</a:t>
                      </a:r>
                      <a:endParaRPr lang="en-IN" sz="8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54165" marR="54165" marT="45137" marB="45137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800">
                          <a:solidFill>
                            <a:srgbClr val="000000"/>
                          </a:solidFill>
                          <a:effectLst/>
                        </a:rPr>
                        <a:t>Real-time governance and integration complexity remain unresolved</a:t>
                      </a:r>
                      <a:endParaRPr lang="en-IN" sz="8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54165" marR="54165" marT="45137" marB="45137"/>
                </a:tc>
                <a:extLst>
                  <a:ext uri="{0D108BD9-81ED-4DB2-BD59-A6C34878D82A}">
                    <a16:rowId xmlns:a16="http://schemas.microsoft.com/office/drawing/2014/main" val="505940190"/>
                  </a:ext>
                </a:extLst>
              </a:tr>
              <a:tr h="428956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800">
                          <a:solidFill>
                            <a:srgbClr val="000000"/>
                          </a:solidFill>
                          <a:effectLst/>
                        </a:rPr>
                        <a:t>Beevi (2025)</a:t>
                      </a:r>
                      <a:endParaRPr lang="en-IN" sz="8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54165" marR="54165" marT="45137" marB="45137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800" dirty="0">
                          <a:effectLst/>
                        </a:rPr>
                        <a:t>Scalable data pipelines for real-time analytics</a:t>
                      </a:r>
                      <a:endParaRPr lang="en-IN" sz="80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54165" marR="54165" marT="45137" marB="45137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800">
                          <a:solidFill>
                            <a:srgbClr val="000000"/>
                          </a:solidFill>
                          <a:effectLst/>
                        </a:rPr>
                        <a:t>Comparative survey of streaming frameworks</a:t>
                      </a:r>
                      <a:endParaRPr lang="en-IN" sz="8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54165" marR="54165" marT="45137" marB="45137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800">
                          <a:effectLst/>
                        </a:rPr>
                        <a:t>Compares state-of-the-art frameworks on performance, fault tolerance, and cost-effectiveness for scalable ingestion pipelines.</a:t>
                      </a:r>
                      <a:endParaRPr lang="en-IN" sz="8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54165" marR="54165" marT="45137" marB="45137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800" dirty="0">
                          <a:solidFill>
                            <a:srgbClr val="000000"/>
                          </a:solidFill>
                          <a:effectLst/>
                        </a:rPr>
                        <a:t>Cost-effectiveness metrics not validated against production deployments</a:t>
                      </a:r>
                      <a:endParaRPr lang="en-IN" sz="8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54165" marR="54165" marT="45137" marB="45137"/>
                </a:tc>
                <a:extLst>
                  <a:ext uri="{0D108BD9-81ED-4DB2-BD59-A6C34878D82A}">
                    <a16:rowId xmlns:a16="http://schemas.microsoft.com/office/drawing/2014/main" val="1346380754"/>
                  </a:ext>
                </a:extLst>
              </a:tr>
              <a:tr h="513627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800">
                          <a:solidFill>
                            <a:srgbClr val="000000"/>
                          </a:solidFill>
                          <a:effectLst/>
                        </a:rPr>
                        <a:t>MDPI review (2025)</a:t>
                      </a:r>
                      <a:endParaRPr lang="en-IN" sz="8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54165" marR="54165" marT="45137" marB="45137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800">
                          <a:effectLst/>
                        </a:rPr>
                        <a:t>Evolution and challenges of real-time big data</a:t>
                      </a:r>
                      <a:endParaRPr lang="en-IN" sz="8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54165" marR="54165" marT="45137" marB="45137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800">
                          <a:solidFill>
                            <a:srgbClr val="000000"/>
                          </a:solidFill>
                          <a:effectLst/>
                        </a:rPr>
                        <a:t>Systematic review (2020–2025 literature)</a:t>
                      </a:r>
                      <a:endParaRPr lang="en-IN" sz="8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54165" marR="54165" marT="45137" marB="45137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800">
                          <a:effectLst/>
                        </a:rPr>
                        <a:t>Finds Kafka Streams, Flink, and Spark Streaming have cut latency and raised throughput; notes growing use of explainable AI and incremental learning atop ingestion pipelines.</a:t>
                      </a:r>
                      <a:endParaRPr lang="en-IN" sz="8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54165" marR="54165" marT="45137" marB="45137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IN" sz="800" dirty="0">
                          <a:solidFill>
                            <a:srgbClr val="000000"/>
                          </a:solidFill>
                          <a:effectLst/>
                        </a:rPr>
                        <a:t>Interoperability between edge computing and centralized streaming layers underexplored</a:t>
                      </a:r>
                      <a:endParaRPr lang="en-IN" sz="8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54165" marR="54165" marT="45137" marB="45137"/>
                </a:tc>
                <a:extLst>
                  <a:ext uri="{0D108BD9-81ED-4DB2-BD59-A6C34878D82A}">
                    <a16:rowId xmlns:a16="http://schemas.microsoft.com/office/drawing/2014/main" val="37448406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02825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223419" y="696348"/>
            <a:ext cx="8229600" cy="5205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400" b="1" dirty="0">
                <a:solidFill>
                  <a:srgbClr val="000000"/>
                </a:solidFill>
                <a:latin typeface="Times New Roman" panose="02020603050405020304" pitchFamily="18" charset="0"/>
                <a:ea typeface="Optima" pitchFamily="34" charset="-122"/>
                <a:cs typeface="Times New Roman" panose="02020603050405020304" pitchFamily="18" charset="0"/>
              </a:rPr>
              <a:t>Problem </a:t>
            </a:r>
            <a:r>
              <a:rPr lang="en-US" sz="2800" b="1" dirty="0">
                <a:solidFill>
                  <a:srgbClr val="000000"/>
                </a:solidFill>
                <a:latin typeface="Times New Roman" panose="02020603050405020304" pitchFamily="18" charset="0"/>
                <a:ea typeface="Optima" pitchFamily="34" charset="-122"/>
                <a:cs typeface="Times New Roman" panose="02020603050405020304" pitchFamily="18" charset="0"/>
              </a:rPr>
              <a:t>statements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1"/>
          <p:cNvSpPr/>
          <p:nvPr/>
        </p:nvSpPr>
        <p:spPr>
          <a:xfrm>
            <a:off x="133643" y="1498208"/>
            <a:ext cx="8876714" cy="23633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p:pic>
        <p:nvPicPr>
          <p:cNvPr id="6" name="Picture 5" descr="Admissions — SIMATS">
            <a:extLst>
              <a:ext uri="{FF2B5EF4-FFF2-40B4-BE49-F238E27FC236}">
                <a16:creationId xmlns:a16="http://schemas.microsoft.com/office/drawing/2014/main" id="{F0CCF27A-B923-CFB2-E34D-92165293ED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0920" y="84406"/>
            <a:ext cx="4062270" cy="520505"/>
          </a:xfrm>
          <a:prstGeom prst="rect">
            <a:avLst/>
          </a:prstGeom>
        </p:spPr>
      </p:pic>
      <p:pic>
        <p:nvPicPr>
          <p:cNvPr id="8" name="Picture 7" descr="Saveetha University">
            <a:extLst>
              <a:ext uri="{FF2B5EF4-FFF2-40B4-BE49-F238E27FC236}">
                <a16:creationId xmlns:a16="http://schemas.microsoft.com/office/drawing/2014/main" id="{51F78C6F-61BB-F36E-4E4F-5F4B50855A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" y="90841"/>
            <a:ext cx="4062270" cy="45839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46BEE61-33BB-7C4B-F65B-624972AE6E4E}"/>
              </a:ext>
            </a:extLst>
          </p:cNvPr>
          <p:cNvSpPr txBox="1"/>
          <p:nvPr/>
        </p:nvSpPr>
        <p:spPr>
          <a:xfrm>
            <a:off x="133643" y="1363962"/>
            <a:ext cx="8532609" cy="2957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Modern applications generate huge volumes of data continuously from distributed sources such as IoT devices, applications, APIs, databases, and system logs. </a:t>
            </a:r>
          </a:p>
          <a:p>
            <a:pPr lvl="0"/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Traditional batch-processing systems cannot process this continuously generated data with low latency. </a:t>
            </a:r>
          </a:p>
          <a:p>
            <a:pPr lvl="0"/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arrives at different speeds and in different formats, making integration and processing difficult.</a:t>
            </a:r>
          </a:p>
          <a:p>
            <a:pPr lvl="0"/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Delayed data processing can affect real-time monitoring and decision-making.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IN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457200" y="407962"/>
            <a:ext cx="8229600" cy="6435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2400" dirty="0"/>
          </a:p>
        </p:txBody>
      </p:sp>
      <p:pic>
        <p:nvPicPr>
          <p:cNvPr id="6" name="Picture 5" descr="Admissions — SIMATS">
            <a:extLst>
              <a:ext uri="{FF2B5EF4-FFF2-40B4-BE49-F238E27FC236}">
                <a16:creationId xmlns:a16="http://schemas.microsoft.com/office/drawing/2014/main" id="{25D29680-F82F-FC94-45D9-9EE4EC3C5E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0919" y="70338"/>
            <a:ext cx="4333505" cy="499405"/>
          </a:xfrm>
          <a:prstGeom prst="rect">
            <a:avLst/>
          </a:prstGeom>
        </p:spPr>
      </p:pic>
      <p:pic>
        <p:nvPicPr>
          <p:cNvPr id="8" name="Picture 7" descr="Saveetha University">
            <a:extLst>
              <a:ext uri="{FF2B5EF4-FFF2-40B4-BE49-F238E27FC236}">
                <a16:creationId xmlns:a16="http://schemas.microsoft.com/office/drawing/2014/main" id="{22FF8738-7510-5CB8-1AAB-0EDE88D222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" y="90841"/>
            <a:ext cx="4062270" cy="45839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1400630-22AB-53EF-E8DD-7AB0B0AB996D}"/>
              </a:ext>
            </a:extLst>
          </p:cNvPr>
          <p:cNvSpPr txBox="1"/>
          <p:nvPr/>
        </p:nvSpPr>
        <p:spPr>
          <a:xfrm>
            <a:off x="474786" y="635528"/>
            <a:ext cx="77442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6ECE05-AD0A-7F29-5B95-27F8F5F0C517}"/>
              </a:ext>
            </a:extLst>
          </p:cNvPr>
          <p:cNvSpPr txBox="1"/>
          <p:nvPr/>
        </p:nvSpPr>
        <p:spPr>
          <a:xfrm>
            <a:off x="590844" y="1216857"/>
            <a:ext cx="7512148" cy="37820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design a real-time pipeline for ingesting high-velocity data from multiple distributed sources.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use Apache Kafka for reliable distributed messaging and real-time data ingestion.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process and transform streaming data using Apache Spark Streaming.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store large-scale processed data using HDFS or cloud storage such as Amazon S3.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visualize real-time analytics and pipeline performance using Grafana/Kibana.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93FA5E-3FAC-653C-BF1F-C94433B04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87F75FF7-7405-8646-9279-23F3ED3F7A73}"/>
              </a:ext>
            </a:extLst>
          </p:cNvPr>
          <p:cNvSpPr/>
          <p:nvPr/>
        </p:nvSpPr>
        <p:spPr>
          <a:xfrm>
            <a:off x="457200" y="407962"/>
            <a:ext cx="8229600" cy="6435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2400" dirty="0"/>
          </a:p>
        </p:txBody>
      </p:sp>
      <p:pic>
        <p:nvPicPr>
          <p:cNvPr id="6" name="Picture 5" descr="Admissions — SIMATS">
            <a:extLst>
              <a:ext uri="{FF2B5EF4-FFF2-40B4-BE49-F238E27FC236}">
                <a16:creationId xmlns:a16="http://schemas.microsoft.com/office/drawing/2014/main" id="{BF2F35A9-9D24-1E13-69E7-82F253B2BE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0919" y="70338"/>
            <a:ext cx="4333505" cy="499405"/>
          </a:xfrm>
          <a:prstGeom prst="rect">
            <a:avLst/>
          </a:prstGeom>
        </p:spPr>
      </p:pic>
      <p:pic>
        <p:nvPicPr>
          <p:cNvPr id="8" name="Picture 7" descr="Saveetha University">
            <a:extLst>
              <a:ext uri="{FF2B5EF4-FFF2-40B4-BE49-F238E27FC236}">
                <a16:creationId xmlns:a16="http://schemas.microsoft.com/office/drawing/2014/main" id="{DFC95D88-BD82-A1D8-E133-67A51CD0D8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" y="90841"/>
            <a:ext cx="4062270" cy="45839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E32012-F89F-BB12-00DC-E7310D4C00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375" y="738554"/>
            <a:ext cx="7715250" cy="4334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62050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355209" y="801259"/>
            <a:ext cx="8229600" cy="5310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1 – Multi-Source Data Ingestion Module</a:t>
            </a:r>
          </a:p>
          <a:p>
            <a:pPr algn="ctr"/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1"/>
          <p:cNvSpPr/>
          <p:nvPr/>
        </p:nvSpPr>
        <p:spPr>
          <a:xfrm>
            <a:off x="457201" y="1361049"/>
            <a:ext cx="5331654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Collects real-time data from multiple distributed sources such as IoT devices, sensors, applications, and server logs.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Apache Kafka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acts as the distributed messaging and data ingestion platform.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Kafka topics organize incoming data streams and allow multiple consumers to process data independently.</a:t>
            </a:r>
          </a:p>
          <a:p>
            <a:r>
              <a:rPr lang="en-IN" sz="1600" b="1" dirty="0"/>
              <a:t>Features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Multi-Source Data Collection 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Apache Kafka Producers 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Kafka Topics and Partitions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 descr="Admissions — SIMATS">
            <a:extLst>
              <a:ext uri="{FF2B5EF4-FFF2-40B4-BE49-F238E27FC236}">
                <a16:creationId xmlns:a16="http://schemas.microsoft.com/office/drawing/2014/main" id="{04BFD0C4-588B-BD17-7364-B0E5A6D76A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0920" y="84406"/>
            <a:ext cx="4249098" cy="436099"/>
          </a:xfrm>
          <a:prstGeom prst="rect">
            <a:avLst/>
          </a:prstGeom>
        </p:spPr>
      </p:pic>
      <p:pic>
        <p:nvPicPr>
          <p:cNvPr id="8" name="Picture 7" descr="Saveetha University">
            <a:extLst>
              <a:ext uri="{FF2B5EF4-FFF2-40B4-BE49-F238E27FC236}">
                <a16:creationId xmlns:a16="http://schemas.microsoft.com/office/drawing/2014/main" id="{15C1243B-D1AD-C3B3-FD12-BEF7D44693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" y="90841"/>
            <a:ext cx="4062270" cy="45839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D097F4C-2DA3-A0CF-B8E9-7F0397F98C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7600" y="1974096"/>
            <a:ext cx="2882418" cy="236814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7568F4-9537-9BBE-8E77-0E944199A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D731462E-ADC6-4F16-DB5F-A47D4D4CEE02}"/>
              </a:ext>
            </a:extLst>
          </p:cNvPr>
          <p:cNvSpPr/>
          <p:nvPr/>
        </p:nvSpPr>
        <p:spPr>
          <a:xfrm>
            <a:off x="355209" y="689617"/>
            <a:ext cx="8229600" cy="5310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2 –  Stream Processing &amp; Transformation Engine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84068C86-17F1-551D-B9DF-D917A8D46A55}"/>
              </a:ext>
            </a:extLst>
          </p:cNvPr>
          <p:cNvSpPr/>
          <p:nvPr/>
        </p:nvSpPr>
        <p:spPr>
          <a:xfrm>
            <a:off x="457201" y="1361049"/>
            <a:ext cx="5500468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Receives continuous data streams from Apache Kafka.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Apache Spark Streaming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processes incoming data in real time or near real time.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Performs data cleaning, </a:t>
            </a:r>
            <a:r>
              <a:rPr lang="en-IN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filtering,transformation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aggregation, and feature extraction.</a:t>
            </a:r>
          </a:p>
          <a:p>
            <a:pPr>
              <a:lnSpc>
                <a:spcPct val="150000"/>
              </a:lnSpc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Stream Processing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Cleaning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Filtering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Transformation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 descr="Admissions — SIMATS">
            <a:extLst>
              <a:ext uri="{FF2B5EF4-FFF2-40B4-BE49-F238E27FC236}">
                <a16:creationId xmlns:a16="http://schemas.microsoft.com/office/drawing/2014/main" id="{A2EB42FF-58FD-8209-D7CB-72F14A4895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0920" y="84406"/>
            <a:ext cx="4249098" cy="436099"/>
          </a:xfrm>
          <a:prstGeom prst="rect">
            <a:avLst/>
          </a:prstGeom>
        </p:spPr>
      </p:pic>
      <p:pic>
        <p:nvPicPr>
          <p:cNvPr id="8" name="Picture 7" descr="Saveetha University">
            <a:extLst>
              <a:ext uri="{FF2B5EF4-FFF2-40B4-BE49-F238E27FC236}">
                <a16:creationId xmlns:a16="http://schemas.microsoft.com/office/drawing/2014/main" id="{5D3C0A79-0557-F009-12CB-1D76CB4640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" y="90841"/>
            <a:ext cx="4062270" cy="45839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AF78436-546B-AC64-E489-1A93BFEB69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49938" y="2200275"/>
            <a:ext cx="2962563" cy="2199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8187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4A06C2-C02C-6D48-8412-CE561BA82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B2AF1F51-C6EB-0202-333A-01EB408305AD}"/>
              </a:ext>
            </a:extLst>
          </p:cNvPr>
          <p:cNvSpPr/>
          <p:nvPr/>
        </p:nvSpPr>
        <p:spPr>
          <a:xfrm>
            <a:off x="355209" y="689617"/>
            <a:ext cx="8229600" cy="5310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3 – Cloud Storage &amp; Visualization Dashboard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DA9519EB-7E14-9F58-4AE5-7851FCBBC64D}"/>
              </a:ext>
            </a:extLst>
          </p:cNvPr>
          <p:cNvSpPr/>
          <p:nvPr/>
        </p:nvSpPr>
        <p:spPr>
          <a:xfrm>
            <a:off x="457200" y="1361049"/>
            <a:ext cx="8025619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Stores raw and processed big data in distributed storage systems.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HDFS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can be used for distributed on-premise storage, while </a:t>
            </a: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Amazon S3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provides scalable cloud-based object storage.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Processed data is made available for analytics and long-term </a:t>
            </a:r>
          </a:p>
          <a:p>
            <a:pPr algn="just">
              <a:lnSpc>
                <a:spcPct val="150000"/>
              </a:lnSpc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storage.</a:t>
            </a:r>
          </a:p>
          <a:p>
            <a:r>
              <a:rPr lang="en-IN" sz="1600" b="1" dirty="0"/>
              <a:t>Features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HDFS/S3 Data Storage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Scalable Cloud Storage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Historical Data Management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Data Visualization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 descr="Admissions — SIMATS">
            <a:extLst>
              <a:ext uri="{FF2B5EF4-FFF2-40B4-BE49-F238E27FC236}">
                <a16:creationId xmlns:a16="http://schemas.microsoft.com/office/drawing/2014/main" id="{7447675B-4BCD-8C2F-0BFF-DB23062B19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0920" y="84406"/>
            <a:ext cx="4249098" cy="436099"/>
          </a:xfrm>
          <a:prstGeom prst="rect">
            <a:avLst/>
          </a:prstGeom>
        </p:spPr>
      </p:pic>
      <p:pic>
        <p:nvPicPr>
          <p:cNvPr id="8" name="Picture 7" descr="Saveetha University">
            <a:extLst>
              <a:ext uri="{FF2B5EF4-FFF2-40B4-BE49-F238E27FC236}">
                <a16:creationId xmlns:a16="http://schemas.microsoft.com/office/drawing/2014/main" id="{24D146C1-B978-92CE-E606-DC8DF5939E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" y="90841"/>
            <a:ext cx="4062270" cy="45839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EA5C8B4-9C7A-FC1D-D7A1-8B730FFC73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3011" y="2407864"/>
            <a:ext cx="2882418" cy="2310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2162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4DE432-6233-A589-C10D-F573581C1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03A1168-EA9E-A8AE-81C5-FA34A1260E8F}"/>
              </a:ext>
            </a:extLst>
          </p:cNvPr>
          <p:cNvSpPr/>
          <p:nvPr/>
        </p:nvSpPr>
        <p:spPr>
          <a:xfrm>
            <a:off x="390810" y="397412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000" b="1" dirty="0"/>
              <a:t>Implementation</a:t>
            </a:r>
          </a:p>
        </p:txBody>
      </p:sp>
      <p:pic>
        <p:nvPicPr>
          <p:cNvPr id="5" name="Picture 4" descr="Admissions — SIMATS">
            <a:extLst>
              <a:ext uri="{FF2B5EF4-FFF2-40B4-BE49-F238E27FC236}">
                <a16:creationId xmlns:a16="http://schemas.microsoft.com/office/drawing/2014/main" id="{AB2DDAF3-3433-4A2E-BA51-35BE36F15F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0920" y="56271"/>
            <a:ext cx="4062270" cy="492370"/>
          </a:xfrm>
          <a:prstGeom prst="rect">
            <a:avLst/>
          </a:prstGeom>
        </p:spPr>
      </p:pic>
      <p:pic>
        <p:nvPicPr>
          <p:cNvPr id="7" name="Picture 6" descr="Saveetha University">
            <a:extLst>
              <a:ext uri="{FF2B5EF4-FFF2-40B4-BE49-F238E27FC236}">
                <a16:creationId xmlns:a16="http://schemas.microsoft.com/office/drawing/2014/main" id="{3B85029C-35E3-8DE4-139A-F0EE11ECD7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" y="90841"/>
            <a:ext cx="4062270" cy="45839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BED943A-2FBF-3C54-04AA-543BF1101C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4742" y="933474"/>
            <a:ext cx="4062270" cy="219158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FB09852-4483-91EC-A8E7-9D4E8D1F51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9913" y="3114232"/>
            <a:ext cx="8841545" cy="193842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7A51814-DBA4-C4D5-DC56-0B41AE295DD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9912" y="933474"/>
            <a:ext cx="4750383" cy="2191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70955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390810" y="38862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2400" dirty="0"/>
          </a:p>
        </p:txBody>
      </p:sp>
      <p:sp>
        <p:nvSpPr>
          <p:cNvPr id="5" name="Text 1"/>
          <p:cNvSpPr/>
          <p:nvPr/>
        </p:nvSpPr>
        <p:spPr>
          <a:xfrm>
            <a:off x="457200" y="1143000"/>
            <a:ext cx="5936566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Stream Processing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Messaging using Apache Kafka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Big Data Pipeline Design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Data Serialization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Apache Spark Streaming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Storage using HDFS/S3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Real-Time Data Visualization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5Vs of Big Data: Volume, Velocity, Variety, Veracity, and Value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 descr="Admissions — SIMATS">
            <a:extLst>
              <a:ext uri="{FF2B5EF4-FFF2-40B4-BE49-F238E27FC236}">
                <a16:creationId xmlns:a16="http://schemas.microsoft.com/office/drawing/2014/main" id="{EAD7DE1C-7AC9-0271-EED6-CEECE7E191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0920" y="49237"/>
            <a:ext cx="4062270" cy="485335"/>
          </a:xfrm>
          <a:prstGeom prst="rect">
            <a:avLst/>
          </a:prstGeom>
        </p:spPr>
      </p:pic>
      <p:pic>
        <p:nvPicPr>
          <p:cNvPr id="8" name="Picture 7" descr="Saveetha University">
            <a:extLst>
              <a:ext uri="{FF2B5EF4-FFF2-40B4-BE49-F238E27FC236}">
                <a16:creationId xmlns:a16="http://schemas.microsoft.com/office/drawing/2014/main" id="{BBF5D320-9BA9-E228-0E05-56BE499CBE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" y="90841"/>
            <a:ext cx="4062270" cy="4583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6A2BB36-BC9F-C98C-6E6A-3DD3A6CC78DA}"/>
              </a:ext>
            </a:extLst>
          </p:cNvPr>
          <p:cNvSpPr txBox="1"/>
          <p:nvPr/>
        </p:nvSpPr>
        <p:spPr>
          <a:xfrm>
            <a:off x="2319195" y="542206"/>
            <a:ext cx="450561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Techniques Used</a:t>
            </a:r>
          </a:p>
          <a:p>
            <a:endParaRPr lang="en-IN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457200" y="464234"/>
            <a:ext cx="8229600" cy="5873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400" b="1" dirty="0">
                <a:solidFill>
                  <a:srgbClr val="000000"/>
                </a:solidFill>
                <a:latin typeface="Times New Roman" panose="02020603050405020304" pitchFamily="18" charset="0"/>
                <a:ea typeface="Optima" pitchFamily="34" charset="-122"/>
                <a:cs typeface="Times New Roman" panose="02020603050405020304" pitchFamily="18" charset="0"/>
              </a:rPr>
              <a:t>Applications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1"/>
          <p:cNvSpPr/>
          <p:nvPr/>
        </p:nvSpPr>
        <p:spPr>
          <a:xfrm>
            <a:off x="457200" y="1143000"/>
            <a:ext cx="4797083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IoT and Smart City Data Processing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Financial Transaction Monitoring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Fraud Detection Systems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Social Media Analytics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Healthcare Monitoring Systems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Industrial and Manufacturing Monitoring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E-Commerce Recommendation Systems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 descr="Admissions — SIMATS">
            <a:extLst>
              <a:ext uri="{FF2B5EF4-FFF2-40B4-BE49-F238E27FC236}">
                <a16:creationId xmlns:a16="http://schemas.microsoft.com/office/drawing/2014/main" id="{84425623-525D-AA26-9F21-A98065FA22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0920" y="70338"/>
            <a:ext cx="4114800" cy="506437"/>
          </a:xfrm>
          <a:prstGeom prst="rect">
            <a:avLst/>
          </a:prstGeom>
        </p:spPr>
      </p:pic>
      <p:pic>
        <p:nvPicPr>
          <p:cNvPr id="8" name="Picture 7" descr="Saveetha University">
            <a:extLst>
              <a:ext uri="{FF2B5EF4-FFF2-40B4-BE49-F238E27FC236}">
                <a16:creationId xmlns:a16="http://schemas.microsoft.com/office/drawing/2014/main" id="{AC4644FE-3C24-6480-0D3A-3F26E0F395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" y="90841"/>
            <a:ext cx="4062270" cy="458399"/>
          </a:xfrm>
          <a:prstGeom prst="rect">
            <a:avLst/>
          </a:prstGeom>
        </p:spPr>
      </p:pic>
      <p:pic>
        <p:nvPicPr>
          <p:cNvPr id="3" name="Picture 2" descr="What Is Big Data?">
            <a:extLst>
              <a:ext uri="{FF2B5EF4-FFF2-40B4-BE49-F238E27FC236}">
                <a16:creationId xmlns:a16="http://schemas.microsoft.com/office/drawing/2014/main" id="{75C7FE3A-9340-41D8-0A64-37A03F9EDE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4283" y="1175112"/>
            <a:ext cx="3123087" cy="282538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0810" y="397412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IN" sz="2000" b="1" dirty="0"/>
              <a:t>Future Scope</a:t>
            </a:r>
            <a:endParaRPr lang="en-US" sz="2000" b="1" dirty="0"/>
          </a:p>
        </p:txBody>
      </p:sp>
      <p:pic>
        <p:nvPicPr>
          <p:cNvPr id="5" name="Picture 4" descr="Admissions — SIMATS">
            <a:extLst>
              <a:ext uri="{FF2B5EF4-FFF2-40B4-BE49-F238E27FC236}">
                <a16:creationId xmlns:a16="http://schemas.microsoft.com/office/drawing/2014/main" id="{2A2A853D-CA2F-3C99-F5B8-BBA1FB7B32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0920" y="56271"/>
            <a:ext cx="4062270" cy="492370"/>
          </a:xfrm>
          <a:prstGeom prst="rect">
            <a:avLst/>
          </a:prstGeom>
        </p:spPr>
      </p:pic>
      <p:pic>
        <p:nvPicPr>
          <p:cNvPr id="7" name="Picture 6" descr="Saveetha University">
            <a:extLst>
              <a:ext uri="{FF2B5EF4-FFF2-40B4-BE49-F238E27FC236}">
                <a16:creationId xmlns:a16="http://schemas.microsoft.com/office/drawing/2014/main" id="{E5C893BA-9E02-B0BF-6892-74AACA68C0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" y="90841"/>
            <a:ext cx="4062270" cy="4583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B32BD5-CF09-A6AF-CA85-2B4230F28F54}"/>
              </a:ext>
            </a:extLst>
          </p:cNvPr>
          <p:cNvSpPr txBox="1"/>
          <p:nvPr/>
        </p:nvSpPr>
        <p:spPr>
          <a:xfrm>
            <a:off x="390810" y="1131837"/>
            <a:ext cx="5649902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Integrate more IoT and enterprise data sources. </a:t>
            </a:r>
          </a:p>
          <a:p>
            <a:pPr lvl="0"/>
            <a:endParaRPr lang="en-IN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Implement advanced anomaly detection. </a:t>
            </a:r>
          </a:p>
          <a:p>
            <a:pPr lvl="0"/>
            <a:endParaRPr lang="en-IN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Add machine-learning-based real-time prediction.</a:t>
            </a:r>
          </a:p>
          <a:p>
            <a:pPr lvl="0"/>
            <a:r>
              <a:rPr lang="en-IN" dirty="0"/>
              <a:t>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Use containerization with Docker and Kubernetes.</a:t>
            </a:r>
          </a:p>
          <a:p>
            <a:pPr lvl="0"/>
            <a:r>
              <a:rPr lang="en-IN" dirty="0"/>
              <a:t>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Implement automatic scaling.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490395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400" b="1" dirty="0">
                <a:solidFill>
                  <a:srgbClr val="000000"/>
                </a:solidFill>
                <a:latin typeface="Times New Roman" panose="02020603050405020304" pitchFamily="18" charset="0"/>
                <a:ea typeface="Optima" pitchFamily="34" charset="-122"/>
                <a:cs typeface="Times New Roman" panose="02020603050405020304" pitchFamily="18" charset="0"/>
              </a:rPr>
              <a:t>Conclusion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1"/>
          <p:cNvSpPr/>
          <p:nvPr/>
        </p:nvSpPr>
        <p:spPr>
          <a:xfrm>
            <a:off x="424005" y="1280759"/>
            <a:ext cx="8295990" cy="37719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real-time ingestion of distributed data.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Kafka enables reliable data streaming.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Spark Streaming enables fast data processing.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HDFS/S3 provides scalable data storage.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Grafana/Kibana provides real-time visualization.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pipeline supports reliable and low-latency analytics.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 descr="Admissions — SIMATS">
            <a:extLst>
              <a:ext uri="{FF2B5EF4-FFF2-40B4-BE49-F238E27FC236}">
                <a16:creationId xmlns:a16="http://schemas.microsoft.com/office/drawing/2014/main" id="{AB78A499-A10B-1964-FF2B-15764B2F7E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0920" y="70339"/>
            <a:ext cx="4062270" cy="471267"/>
          </a:xfrm>
          <a:prstGeom prst="rect">
            <a:avLst/>
          </a:prstGeom>
        </p:spPr>
      </p:pic>
      <p:pic>
        <p:nvPicPr>
          <p:cNvPr id="8" name="Picture 7" descr="Saveetha University">
            <a:extLst>
              <a:ext uri="{FF2B5EF4-FFF2-40B4-BE49-F238E27FC236}">
                <a16:creationId xmlns:a16="http://schemas.microsoft.com/office/drawing/2014/main" id="{B7E3E331-02E3-7373-5BCE-248788A12F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" y="90841"/>
            <a:ext cx="4062270" cy="45839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C033B0-6572-066F-1DA0-6AE2A58C0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3BC5D08-0049-347B-8387-5F3B14C85F36}"/>
              </a:ext>
            </a:extLst>
          </p:cNvPr>
          <p:cNvSpPr/>
          <p:nvPr/>
        </p:nvSpPr>
        <p:spPr>
          <a:xfrm>
            <a:off x="390810" y="397412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400" b="1" dirty="0">
                <a:solidFill>
                  <a:srgbClr val="000000"/>
                </a:solidFill>
                <a:latin typeface="Times New Roman" panose="02020603050405020304" pitchFamily="18" charset="0"/>
                <a:ea typeface="Optima" pitchFamily="34" charset="-122"/>
                <a:cs typeface="Times New Roman" panose="02020603050405020304" pitchFamily="18" charset="0"/>
              </a:rPr>
              <a:t>References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698A4DD-EF4B-C581-99C4-8785C34769AA}"/>
              </a:ext>
            </a:extLst>
          </p:cNvPr>
          <p:cNvSpPr/>
          <p:nvPr/>
        </p:nvSpPr>
        <p:spPr>
          <a:xfrm>
            <a:off x="390810" y="1100797"/>
            <a:ext cx="7455877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Pacella, Massimo, et al. "A scalable framework for sensor data ingestion and real-time processing in cloud manufacturing." </a:t>
            </a:r>
            <a:r>
              <a:rPr lang="en-I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Algorithms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18.1 (2025): 22.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Pacella, Massimo, Antonio Papa, Gabriele </a:t>
            </a:r>
            <a:r>
              <a:rPr lang="en-IN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Papadia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and Emiliano Fedeli. "A scalable framework for sensor data ingestion and real-time processing in cloud manufacturing." </a:t>
            </a:r>
            <a:r>
              <a:rPr lang="en-I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Algorithms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18, no. 1 (2025): 22.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Pacella M, Papa A, </a:t>
            </a:r>
            <a:r>
              <a:rPr lang="en-IN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Papadia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G, Fedeli E. A scalable framework for sensor data ingestion and real-time processing in cloud manufacturing. Algorithms. 2025 Jan 4;18(1):22.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Pacella, M., Papa, A., </a:t>
            </a:r>
            <a:r>
              <a:rPr lang="en-IN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Papadia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G., &amp; Fedeli, E. (2025). A scalable framework for sensor data ingestion and real-time processing in cloud manufacturing. </a:t>
            </a:r>
            <a:r>
              <a:rPr lang="en-I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Algorithms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 </a:t>
            </a:r>
            <a:r>
              <a:rPr lang="en-I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18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(1), 22.</a:t>
            </a:r>
            <a:endParaRPr lang="en-I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 descr="Admissions — SIMATS">
            <a:extLst>
              <a:ext uri="{FF2B5EF4-FFF2-40B4-BE49-F238E27FC236}">
                <a16:creationId xmlns:a16="http://schemas.microsoft.com/office/drawing/2014/main" id="{B6196B2C-94E2-0A6F-03FE-021AE3914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0920" y="56271"/>
            <a:ext cx="4062270" cy="492370"/>
          </a:xfrm>
          <a:prstGeom prst="rect">
            <a:avLst/>
          </a:prstGeom>
        </p:spPr>
      </p:pic>
      <p:pic>
        <p:nvPicPr>
          <p:cNvPr id="7" name="Picture 6" descr="Saveetha University">
            <a:extLst>
              <a:ext uri="{FF2B5EF4-FFF2-40B4-BE49-F238E27FC236}">
                <a16:creationId xmlns:a16="http://schemas.microsoft.com/office/drawing/2014/main" id="{55F77348-E895-C5CC-4B63-6CC63755B1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" y="90841"/>
            <a:ext cx="4062270" cy="458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54974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25,895 Thank You Sign Royalty-Free Images, Stock Photos &amp; Pictures |  Shutterstock">
            <a:extLst>
              <a:ext uri="{FF2B5EF4-FFF2-40B4-BE49-F238E27FC236}">
                <a16:creationId xmlns:a16="http://schemas.microsoft.com/office/drawing/2014/main" id="{6110245E-94C9-12DB-2750-254B00CE2C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033"/>
          <a:stretch>
            <a:fillRect/>
          </a:stretch>
        </p:blipFill>
        <p:spPr>
          <a:xfrm>
            <a:off x="1540412" y="1208099"/>
            <a:ext cx="5944626" cy="3005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4368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291</TotalTime>
  <Words>1123</Words>
  <Application>Microsoft Office PowerPoint</Application>
  <PresentationFormat>On-screen Show (16:9)</PresentationFormat>
  <Paragraphs>154</Paragraphs>
  <Slides>17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Times New Roman</vt:lpstr>
      <vt:lpstr>Wingdings</vt:lpstr>
      <vt:lpstr>Office Theme</vt:lpstr>
      <vt:lpstr>Real-Time Big Data Ingestion Pipeline from Distributed Sources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SlideMake.com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And Development Of An Intelligent Smart Agriculture Management System Using Data Structures A</dc:title>
  <dc:subject>Design And Development Of An Intelligent Smart Agriculture Management System Using Data Structures A</dc:subject>
  <dc:creator>SlideMake.com</dc:creator>
  <cp:lastModifiedBy>Gali Venkata Prashanth Reddy</cp:lastModifiedBy>
  <cp:revision>8</cp:revision>
  <dcterms:created xsi:type="dcterms:W3CDTF">2026-07-22T02:09:05Z</dcterms:created>
  <dcterms:modified xsi:type="dcterms:W3CDTF">2026-09-03T07:46:38Z</dcterms:modified>
</cp:coreProperties>
</file>